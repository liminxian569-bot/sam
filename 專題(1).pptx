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4" r:id="rId3"/>
    <p:sldId id="280" r:id="rId4"/>
    <p:sldId id="281" r:id="rId5"/>
    <p:sldId id="282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64" r:id="rId14"/>
    <p:sldId id="267" r:id="rId15"/>
    <p:sldId id="28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3" r:id="rId29"/>
    <p:sldId id="286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89D8A-2F2D-FB81-51F4-6E8B775DA2F1}" v="1" dt="2026-06-06T18:55:48.312"/>
    <p1510:client id="{932B8158-0C2A-4D3C-A585-E0F3228882D7}" v="27" dt="2026-06-06T18:50:48.484"/>
    <p1510:client id="{B4D9F635-2424-D328-6BAD-90C9EF73CD9C}" v="2" dt="2026-06-06T18:53:25.282"/>
    <p1510:client id="{D7354738-9A6F-5B00-4A6B-F2A12BF654D5}" v="4" dt="2026-06-06T18:46:2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409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55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F762-9DEC-AE49-207E-83CB5314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8C92F-7B28-CD49-984C-95CE0FDD5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F48C0-6CF5-7FEF-38E3-F8B227031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03A38-311A-B6A5-3783-F6C2C3907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4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9EF3-0C4A-A5F1-7991-A1062ECE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280D9-9BF8-CA63-A934-928B6B995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17CA8-A88F-8923-CD9F-F14A4F086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51EBA-96A2-3ACB-B550-D6513B4A0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56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2BE7-DDC6-3A50-E2C9-FF2A5295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E147F-A656-E4FA-E4B3-72E0F2784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DCDF9-42A2-DF59-D946-18258BDF4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7D93E-9B1A-3E39-A5C1-67C69A0E7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03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6C84-26B8-1BC3-A1B7-C08421CA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A8ADB-BF98-8A96-7175-C9CE946EA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40883-CCAF-42AC-FF4F-2D4CDAC3F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AA37A-1E0C-80FC-EE78-4CBF06CE8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78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85EA4-E6D5-3D2F-B52B-921CD599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31ED4-8838-6D87-EF0A-EB609D891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6E152-6C83-7866-26C5-7474B772B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A4753-DEFB-C7DD-AE7A-3EC19A32E2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07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358F-688A-E6D9-EE05-2CFFC627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B2EC5-B457-4B83-FB07-54E93998D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AAC72-265A-DB02-B5C9-0FFA1DA4E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98B0A-3BF5-3441-76A8-1CCB25DDA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24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9F2D0-BC0F-5D0A-98F0-BEB0BD54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D044-0CBC-9A00-A25E-197C0554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858D5-9153-5660-0D7C-4923D7BEE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9E0E8-AE78-C2C0-A023-124D47CEE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4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>
                <a:solidFill>
                  <a:srgbClr val="5A7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單字猜謎遊戲</a:t>
            </a:r>
            <a:endParaRPr lang="en-US" sz="4200"/>
          </a:p>
        </p:txBody>
      </p:sp>
      <p:sp>
        <p:nvSpPr>
          <p:cNvPr id="3" name="Shape 1"/>
          <p:cNvSpPr/>
          <p:nvPr/>
        </p:nvSpPr>
        <p:spPr>
          <a:xfrm>
            <a:off x="2286000" y="2487168"/>
            <a:ext cx="45720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5A7FA0"/>
                </a:solidFill>
              </a:rPr>
              <a:t>第一組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1371600" y="3035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7FA0"/>
                </a:solidFill>
              </a:rPr>
              <a:t>組長：李旻憲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371600" y="3364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7FA0"/>
                </a:solidFill>
              </a:rPr>
              <a:t>組員：李庭偉  吳宸緯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4A5C"/>
                </a:solidFill>
                <a:latin typeface="Georgia"/>
              </a:rPr>
              <a:t>工作分配表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8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2651760" cy="38404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2651760" cy="475488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42415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李旻憲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D0E4F4"/>
                </a:solidFill>
                <a:latin typeface="Calibri"/>
              </a:rPr>
              <a:t>組長</a:t>
            </a:r>
            <a:endParaRPr sz="1000" b="0" i="0" dirty="0">
              <a:solidFill>
                <a:srgbClr val="D0E4F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  <a:latin typeface="Calibri"/>
              </a:rPr>
              <a:t>·  GameManager.cpp / .h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  <a:latin typeface="Calibri"/>
              </a:rPr>
              <a:t>·  Pet.cpp / .h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14015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C"/>
                </a:solidFill>
                <a:latin typeface="Calibri"/>
              </a:rPr>
              <a:t>· 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遊戲主邏輯</a:t>
            </a:r>
            <a:r>
              <a:rPr sz="1000" b="0" i="0" dirty="0">
                <a:solidFill>
                  <a:srgbClr val="3A4A5C"/>
                </a:solidFill>
                <a:latin typeface="Calibri"/>
              </a:rPr>
              <a:t> &amp;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血量管理</a:t>
            </a:r>
            <a:endParaRPr sz="100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C"/>
                </a:solidFill>
                <a:latin typeface="Calibri"/>
              </a:rPr>
              <a:t>·  ASCII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介面設計</a:t>
            </a:r>
            <a:endParaRPr sz="100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19272" y="1005840"/>
            <a:ext cx="2651760" cy="38404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9272" y="1005840"/>
            <a:ext cx="2651760" cy="475488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1042415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李庭偉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4"/>
                </a:solidFill>
                <a:latin typeface="Calibri"/>
              </a:rPr>
              <a:t>組員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57276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  <a:latin typeface="Calibri"/>
              </a:rPr>
              <a:t>·  main.cpp 主流程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01168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  <a:latin typeface="Calibri"/>
              </a:rPr>
              <a:t>·  難度選擇 &amp; 防呆機制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450591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  <a:latin typeface="Calibri"/>
              </a:rPr>
              <a:t>·  多局迴圈控制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889504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  <a:latin typeface="Calibri"/>
              </a:rPr>
              <a:t>·  模組串接 &amp; 測試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1005840"/>
            <a:ext cx="2651760" cy="38404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27064" y="1005840"/>
            <a:ext cx="2651760" cy="475488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18504" y="1042415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吳宸緯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4"/>
                </a:solidFill>
                <a:latin typeface="Calibri"/>
              </a:rPr>
              <a:t>組員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1572768"/>
            <a:ext cx="23957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C"/>
                </a:solidFill>
                <a:latin typeface="Calibri"/>
              </a:rPr>
              <a:t>·  WordBank.cpp / .h</a:t>
            </a:r>
            <a:endParaRPr lang="en-US" sz="1000" b="0" i="0" dirty="0">
              <a:solidFill>
                <a:srgbClr val="3A4A5C"/>
              </a:solidFill>
              <a:latin typeface="Calibri"/>
            </a:endParaRPr>
          </a:p>
          <a:p>
            <a:pPr algn="l"/>
            <a:endParaRPr lang="en-US" sz="1000" dirty="0">
              <a:solidFill>
                <a:srgbClr val="3A4A5C"/>
              </a:solidFill>
              <a:latin typeface="Calibri"/>
            </a:endParaRPr>
          </a:p>
          <a:p>
            <a:r>
              <a:rPr lang="en-US" altLang="zh-TW" sz="1000" dirty="0">
                <a:solidFill>
                  <a:srgbClr val="3A4A5C"/>
                </a:solidFill>
              </a:rPr>
              <a:t>    Scordboard.cpp/.h</a:t>
            </a:r>
            <a:endParaRPr sz="100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656" y="2245638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C"/>
                </a:solidFill>
                <a:latin typeface="Calibri"/>
              </a:rPr>
              <a:t>· 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外部題庫讀檔</a:t>
            </a:r>
            <a:r>
              <a:rPr sz="1000" b="0" i="0" dirty="0">
                <a:solidFill>
                  <a:srgbClr val="3A4A5C"/>
                </a:solidFill>
                <a:latin typeface="Calibri"/>
              </a:rPr>
              <a:t> (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ifstream</a:t>
            </a:r>
            <a:r>
              <a:rPr sz="1000" b="0" i="0" dirty="0">
                <a:solidFill>
                  <a:srgbClr val="3A4A5C"/>
                </a:solidFill>
                <a:latin typeface="Calibri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268196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C"/>
                </a:solidFill>
                <a:latin typeface="Calibri"/>
              </a:rPr>
              <a:t>· 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難度分類</a:t>
            </a:r>
            <a:r>
              <a:rPr sz="1000" b="0" i="0" dirty="0">
                <a:solidFill>
                  <a:srgbClr val="3A4A5C"/>
                </a:solidFill>
                <a:latin typeface="Calibri"/>
              </a:rPr>
              <a:t> &amp;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挖空演算法</a:t>
            </a:r>
            <a:endParaRPr sz="100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64224" y="3089287"/>
            <a:ext cx="23957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C"/>
                </a:solidFill>
                <a:latin typeface="Calibri"/>
              </a:rPr>
              <a:t>·  </a:t>
            </a:r>
            <a:r>
              <a:rPr sz="1000" b="0" i="0" dirty="0" err="1">
                <a:solidFill>
                  <a:srgbClr val="3A4A5C"/>
                </a:solidFill>
                <a:latin typeface="Calibri"/>
              </a:rPr>
              <a:t>隨機抽題邏輯</a:t>
            </a:r>
            <a:endParaRPr lang="en-US" sz="1000" b="0" i="0" dirty="0">
              <a:solidFill>
                <a:srgbClr val="3A4A5C"/>
              </a:solidFill>
              <a:latin typeface="Calibri"/>
            </a:endParaRPr>
          </a:p>
          <a:p>
            <a:pPr algn="l"/>
            <a:endParaRPr lang="en-US" sz="1000" dirty="0">
              <a:solidFill>
                <a:srgbClr val="3A4A5C"/>
              </a:solidFill>
              <a:latin typeface="Calibri"/>
            </a:endParaRPr>
          </a:p>
          <a:p>
            <a:pPr algn="l"/>
            <a:r>
              <a:rPr lang="en-US" sz="1000" b="0" i="0" dirty="0">
                <a:solidFill>
                  <a:srgbClr val="3A4A5C"/>
                </a:solidFill>
                <a:latin typeface="Calibri"/>
              </a:rPr>
              <a:t>    </a:t>
            </a:r>
            <a:endParaRPr sz="1000" b="0" i="0" dirty="0">
              <a:solidFill>
                <a:srgbClr val="3A4A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4A5C"/>
                </a:solidFill>
                <a:latin typeface="Georgia"/>
              </a:rPr>
              <a:t>遊戲規則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8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416052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44168"/>
            <a:ext cx="384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A4A5C"/>
                </a:solidFill>
                <a:latin typeface="Calibri"/>
              </a:rPr>
              <a:t>  </a:t>
            </a:r>
            <a:r>
              <a:rPr sz="1200" b="1" i="0" dirty="0" err="1">
                <a:solidFill>
                  <a:srgbClr val="3A4A5C"/>
                </a:solidFill>
                <a:latin typeface="Calibri"/>
              </a:rPr>
              <a:t>選擇難度</a:t>
            </a:r>
            <a:endParaRPr sz="1200"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65506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遊戲開始前選擇簡單 / 中等 / 困難，系統從對應題庫隨機抽出一個英文單字。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234440"/>
            <a:ext cx="416052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344168"/>
            <a:ext cx="384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A4A5C"/>
                </a:solidFill>
                <a:latin typeface="Calibri"/>
              </a:rPr>
              <a:t>  </a:t>
            </a:r>
            <a:r>
              <a:rPr sz="1200" b="1" i="0" dirty="0" err="1">
                <a:solidFill>
                  <a:srgbClr val="3A4A5C"/>
                </a:solidFill>
                <a:latin typeface="Calibri"/>
              </a:rPr>
              <a:t>猜字方式</a:t>
            </a:r>
            <a:endParaRPr sz="1200"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83480" y="165506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系統以遮蔽字串顯示題目（例：c_mp_ter），玩家輸入完整單字來填空。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80"/>
            <a:ext cx="416052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384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A4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3A4A5C"/>
                </a:solidFill>
                <a:latin typeface="Calibri"/>
              </a:rPr>
              <a:t>答對判定</a:t>
            </a:r>
            <a:endParaRPr sz="1200"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輸入字串與答案逐字比對，正確字母填入對應格，寵物顯示開心表情，血量不變。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468880"/>
            <a:ext cx="416052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578608"/>
            <a:ext cx="384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A4A5C"/>
                </a:solidFill>
                <a:latin typeface="Calibri"/>
              </a:rPr>
              <a:t>  </a:t>
            </a:r>
            <a:r>
              <a:rPr sz="1200" b="1" i="0" dirty="0" err="1">
                <a:solidFill>
                  <a:srgbClr val="3A4A5C"/>
                </a:solidFill>
                <a:latin typeface="Calibri"/>
              </a:rPr>
              <a:t>答錯扣血</a:t>
            </a:r>
            <a:endParaRPr sz="1200"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83480" y="288950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答錯扣 1 滴血（初始 3 滴）；字數不符時系統提示並不扣血，可重新輸入。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03320"/>
            <a:ext cx="416052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13048"/>
            <a:ext cx="384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A4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3A4A5C"/>
                </a:solidFill>
                <a:latin typeface="Calibri"/>
              </a:rPr>
              <a:t>勝利條件</a:t>
            </a:r>
            <a:endParaRPr sz="1200"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12394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血量歸零前將所有底線填滿即獲勝，連勝紀錄 +1，並更新歷史最高連勝。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703320"/>
            <a:ext cx="416052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3813048"/>
            <a:ext cx="384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3A4A5C"/>
                </a:solidFill>
                <a:latin typeface="Calibri"/>
              </a:rPr>
              <a:t> </a:t>
            </a:r>
            <a:r>
              <a:rPr sz="1200" b="1" i="0" dirty="0">
                <a:solidFill>
                  <a:srgbClr val="3A4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3A4A5C"/>
                </a:solidFill>
                <a:latin typeface="Calibri"/>
              </a:rPr>
              <a:t>失敗條件</a:t>
            </a:r>
            <a:endParaRPr sz="1200"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83480" y="412394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猜錯 3 次（hp = 0）遊戲結束，公佈正確答案，連勝紀錄歸零。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4A5C"/>
                </a:solidFill>
                <a:latin typeface="Georgia"/>
              </a:rPr>
              <a:t>遊戲操作說明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8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502920" cy="594360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52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A5C"/>
                </a:solidFill>
                <a:latin typeface="Calibri"/>
              </a:rPr>
              <a:t>選擇難度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1790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8899AA"/>
                </a:solidFill>
                <a:latin typeface="Calibri"/>
              </a:rPr>
              <a:t>輸入</a:t>
            </a:r>
            <a:r>
              <a:rPr sz="1000" b="0" i="0" dirty="0">
                <a:solidFill>
                  <a:srgbClr val="8899AA"/>
                </a:solidFill>
                <a:latin typeface="Calibri"/>
              </a:rPr>
              <a:t> 1（簡單）、2（中等）或 3（困難），</a:t>
            </a:r>
            <a:r>
              <a:rPr sz="1000" b="0" i="0" dirty="0" err="1">
                <a:solidFill>
                  <a:srgbClr val="8899AA"/>
                </a:solidFill>
                <a:latin typeface="Calibri"/>
              </a:rPr>
              <a:t>系統驗證輸入範圍，非法數字會要求重新輸入</a:t>
            </a:r>
            <a:r>
              <a:rPr sz="1000" b="0" i="0" dirty="0">
                <a:solidFill>
                  <a:srgbClr val="8899AA"/>
                </a:solidFill>
                <a:latin typeface="Calibri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56816"/>
            <a:ext cx="502920" cy="594360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02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A5C"/>
                </a:solidFill>
                <a:latin typeface="Calibri"/>
              </a:rPr>
              <a:t>閱讀提示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畫面顯示【中文提示】與【英文單字】遮蔽字串，以及剩餘血量與當前連勝數。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06624"/>
            <a:ext cx="502920" cy="594360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7797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523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A5C"/>
                </a:solidFill>
                <a:latin typeface="Calibri"/>
              </a:rPr>
              <a:t>輸入答案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輸入完整的英文單字（不分大小寫），系統自動轉為小寫後進行比對。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56432"/>
            <a:ext cx="502920" cy="594360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5295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02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A5C"/>
                </a:solidFill>
                <a:latin typeface="Calibri"/>
              </a:rPr>
              <a:t>查看回饋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6732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寵物 Coddy 會根據結果顯示不同表情與台詞；畫面即時更新填入的字母。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06240"/>
            <a:ext cx="502920" cy="594360"/>
          </a:xfrm>
          <a:prstGeom prst="rect">
            <a:avLst/>
          </a:prstGeom>
          <a:solidFill>
            <a:srgbClr val="5A7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279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A5C"/>
                </a:solidFill>
                <a:latin typeface="Calibri"/>
              </a:rPr>
              <a:t>繼續或結束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1713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遊戲結束後選擇 Y 繼續下一局，選 N 則顯示最終戰績後離開程式。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4A5C"/>
                </a:solidFill>
                <a:latin typeface="Georgia"/>
              </a:rPr>
              <a:t>程式安裝與執行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  <a:latin typeface="Calibri"/>
              </a:rPr>
              <a:t>環境需求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141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3A4A5C"/>
                </a:solidFill>
                <a:latin typeface="Calibri"/>
              </a:rPr>
              <a:t>作業系統</a:t>
            </a:r>
            <a:endParaRPr b="1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5960" y="1653278"/>
            <a:ext cx="221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8899AA"/>
                </a:solidFill>
                <a:latin typeface="Calibri"/>
              </a:rPr>
              <a:t>Windows 10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342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3A4A5C"/>
                </a:solidFill>
              </a:rPr>
              <a:t>編譯器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3862" y="2606040"/>
            <a:ext cx="221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8899AA"/>
                </a:solidFill>
                <a:latin typeface="Calibri"/>
              </a:rPr>
              <a:t>Visual Studio 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69164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00100" y="16733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7A8A"/>
                </a:solidFill>
              </a:rPr>
              <a:t>main.cpp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85800" y="2108045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入口 / 難度選擇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743200" y="1325880"/>
            <a:ext cx="2011680" cy="141732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42603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A7FA0"/>
                </a:solidFill>
              </a:rPr>
              <a:t>GameManager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遊戲主流程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359791" y="1355774"/>
            <a:ext cx="1691640" cy="141732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137031" y="167616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A7FA0"/>
                </a:solidFill>
              </a:rPr>
              <a:t>Pet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920741" y="21031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寵物反應顯示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69164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0100" y="3364992"/>
            <a:ext cx="94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7A8A"/>
                </a:solidFill>
              </a:rPr>
              <a:t>WordBank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882748" y="3800387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單字載入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7498080" y="1325880"/>
            <a:ext cx="141732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818120" y="168038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7A8A"/>
                </a:solidFill>
              </a:rPr>
              <a:t>ScoreBoard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7955280" y="206443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紀錄讀寫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382715" y="1975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899AA"/>
                </a:solidFill>
              </a:rPr>
              <a:t>→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5023925" y="1947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899AA"/>
                </a:solidFill>
              </a:rPr>
              <a:t>→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7222003" y="1947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8CFC4"/>
                </a:solidFill>
              </a:rPr>
              <a:t>→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GameManager.h — 標頭檔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9AA"/>
                </a:solidFill>
              </a:rPr>
              <a:t>類別宣告 · 成員變數 · 公開介面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572000" cy="3611880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431596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#ifndef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GAMEMANAGER_H
</a:t>
            </a:r>
            <a:r>
              <a:rPr lang="en-US" sz="1000" b="1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GAMEMANAGER_H
</a:t>
            </a:r>
            <a:r>
              <a:rPr lang="en-US" sz="1000" b="1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"Pet.h"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GameManager {
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answer, currentWord, meaning;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hp, currentStreak;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won;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companion;
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GameManager(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ans,</a:t>
            </a:r>
            <a:r>
              <a:rPr lang="en-US" sz="100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masked, 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chiMeaning,</a:t>
            </a:r>
            <a:r>
              <a:rPr lang="en-US" sz="100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streak = 0);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startGame();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isWon()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won; </a:t>
            </a:r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}
};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07492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4A5C"/>
                </a:solidFill>
              </a:rPr>
              <a:t>成員說明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102352" y="16642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6400800" y="166420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7022592" y="16642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正確答案（全小寫）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5074920" y="2029968"/>
            <a:ext cx="374904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102352" y="2084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currentWord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6400800" y="20848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7022592" y="20848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含底線的遮罩字串，如 a__le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5074920" y="2450592"/>
            <a:ext cx="374904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102352" y="25054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6400800" y="250545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7022592" y="250545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中文提示，如「蘋果」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5074920" y="2871216"/>
            <a:ext cx="374904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102352" y="29260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7022592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剩餘血量，初始為 3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074920" y="3291840"/>
            <a:ext cx="374904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102352" y="33467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currentStreak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6400800" y="334670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7022592" y="33467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當前連勝數，從 main() 傳入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074920" y="3712464"/>
            <a:ext cx="374904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102352" y="3767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6400800" y="376732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7022592" y="37673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勝負旗標，供 ScoreBoard 記錄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74920" y="4133088"/>
            <a:ext cx="374904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5102352" y="4187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6400800" y="418795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7022592" y="41879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寵物物件，負責情緒顯示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5074920" y="4572000"/>
            <a:ext cx="37490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遊戲主迴圈邏輯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9AA"/>
                </a:solidFill>
              </a:rPr>
              <a:t>startGame() — while 迴圈兩個終止條件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4572000" cy="3566160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427939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GameManager::startGame() {
</a:t>
            </a:r>
            <a:r>
              <a:rPr lang="en-US" sz="105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guessWord;
</a:t>
            </a:r>
            <a:r>
              <a:rPr lang="en-US" sz="105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(hp &gt; </a:t>
            </a:r>
            <a:r>
              <a:rPr lang="en-US" sz="105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currentWord != answer) {
</a:t>
            </a:r>
            <a:r>
              <a:rPr lang="en-US" sz="105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顯示題目、讀取輸入
</a:t>
            </a:r>
            <a:r>
              <a:rPr lang="en-US" sz="105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meaning &lt;&lt; currentWord;
    cin &gt;&gt; guessWord;
</a:t>
            </a:r>
            <a:r>
              <a:rPr lang="en-US" sz="105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比對答案，扣血或填入
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
  }
</a:t>
            </a:r>
            <a:r>
              <a:rPr lang="en-US" sz="105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顯示勝負結果
</a:t>
            </a:r>
            <a:r>
              <a:rPr lang="en-US" sz="105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(hp == </a:t>
            </a:r>
            <a:r>
              <a:rPr lang="en-US" sz="105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cout &lt;&lt; "遊戲失敗";
</a:t>
            </a:r>
            <a:r>
              <a:rPr lang="en-US" sz="105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r>
              <a:rPr lang="en-US" sz="105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"恭喜獲勝！";
}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5486400" y="1261872"/>
            <a:ext cx="3291840" cy="1645920"/>
          </a:xfrm>
          <a:prstGeom prst="rect">
            <a:avLst/>
          </a:prstGeom>
          <a:solidFill>
            <a:srgbClr val="E4EBF3"/>
          </a:solidFill>
          <a:ln w="1524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486400" y="1261872"/>
            <a:ext cx="640080" cy="274320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條件一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5596128" y="160934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&gt; 0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596128" y="2039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血量歸零立即結束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（輸）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486400" y="3136392"/>
            <a:ext cx="3291840" cy="1645920"/>
          </a:xfrm>
          <a:prstGeom prst="rect">
            <a:avLst/>
          </a:prstGeom>
          <a:solidFill>
            <a:srgbClr val="EDE8E0"/>
          </a:solidFill>
          <a:ln w="1524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486400" y="3136392"/>
            <a:ext cx="640080" cy="2743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486400" y="3136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條件二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5596128" y="348386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currentWord != answer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596128" y="391363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遮罩字串尚未還原為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正確答案時繼續迴圈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startGame() — 輸入與顯示邏輯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9AA"/>
                </a:solidFill>
              </a:rPr>
              <a:t>每回合開始前的畫面輸出 · 輸入讀取 · 前處理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846320" cy="3611880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459028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system("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");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currentStreak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"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目前連勝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 &lt;&lt;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currentStreak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"【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中文提示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】" &lt;&lt; meaning;
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"【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英文單字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】" &lt;&lt; 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currentWord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"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剩餘血量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 &lt;&lt; hp;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Pet::Mood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(hp ==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)? Pet::LOW_HP : Pet::IDLE;
</a:t>
            </a:r>
            <a:r>
              <a:rPr lang="en-US" sz="1000" err="1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companion.show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(mood);
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&gt;&gt;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guessWord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int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i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= 0;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i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&lt;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guessWord.length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();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i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++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</a:p>
          <a:p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guessWord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guessWord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err="1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guessWord.length</a:t>
            </a:r>
            <a:r>
              <a:rPr lang="en-US" sz="1000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!= </a:t>
            </a:r>
            <a:r>
              <a:rPr lang="en-US" sz="1000" err="1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answer.length</a:t>
            </a:r>
            <a:r>
              <a:rPr lang="en-US" sz="1000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</a:p>
          <a:p>
            <a:r>
              <a:rPr lang="en-US" sz="1000">
                <a:solidFill>
                  <a:srgbClr val="F08060"/>
                </a:solidFill>
                <a:latin typeface="Consolas" pitchFamily="34" charset="0"/>
              </a:rPr>
              <a:t>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cout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&lt;&lt; </a:t>
            </a:r>
            <a:r>
              <a:rPr lang="en-US" altLang="zh-TW" sz="1000">
                <a:solidFill>
                  <a:srgbClr val="F08060"/>
                </a:solidFill>
                <a:latin typeface="Consolas" pitchFamily="34" charset="0"/>
              </a:rPr>
              <a:t>"&gt;&gt; </a:t>
            </a:r>
            <a:r>
              <a:rPr lang="zh-TW" altLang="en-US" sz="1000">
                <a:solidFill>
                  <a:srgbClr val="F08060"/>
                </a:solidFill>
                <a:latin typeface="Consolas" pitchFamily="34" charset="0"/>
              </a:rPr>
              <a:t>提醒：字數不對喔！這題單字有 </a:t>
            </a:r>
            <a:r>
              <a:rPr lang="en-US" altLang="zh-TW" sz="1000">
                <a:solidFill>
                  <a:srgbClr val="F08060"/>
                </a:solidFill>
                <a:latin typeface="Consolas" pitchFamily="34" charset="0"/>
              </a:rPr>
              <a:t>"</a:t>
            </a:r>
            <a:r>
              <a:rPr lang="zh-TW" altLang="en-US" sz="1000">
                <a:solidFill>
                  <a:srgbClr val="F08060"/>
                </a:solidFill>
                <a:latin typeface="Consolas" pitchFamily="34" charset="0"/>
              </a:rPr>
              <a:t>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&lt;&lt;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answer.length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() &lt;&lt;</a:t>
            </a:r>
            <a:r>
              <a:rPr lang="en-US" altLang="zh-TW" sz="1000">
                <a:solidFill>
                  <a:srgbClr val="F08060"/>
                </a:solidFill>
                <a:latin typeface="Consolas" pitchFamily="34" charset="0"/>
              </a:rPr>
              <a:t> " </a:t>
            </a:r>
            <a:r>
              <a:rPr lang="zh-TW" altLang="en-US" sz="1000">
                <a:solidFill>
                  <a:srgbClr val="F08060"/>
                </a:solidFill>
                <a:latin typeface="Consolas" pitchFamily="34" charset="0"/>
              </a:rPr>
              <a:t>個字母，請重新輸入。</a:t>
            </a:r>
            <a:r>
              <a:rPr lang="en-US" altLang="zh-TW" sz="1000">
                <a:solidFill>
                  <a:srgbClr val="F08060"/>
                </a:solidFill>
                <a:latin typeface="Consolas" pitchFamily="34" charset="0"/>
              </a:rPr>
              <a:t>"</a:t>
            </a:r>
            <a:r>
              <a:rPr lang="zh-TW" altLang="en-US" sz="1000">
                <a:solidFill>
                  <a:srgbClr val="F08060"/>
                </a:solidFill>
                <a:latin typeface="Consolas" pitchFamily="34" charset="0"/>
              </a:rPr>
              <a:t>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&lt;&lt;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endl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;</a:t>
            </a:r>
            <a:endParaRPr lang="en-US" sz="1000">
              <a:solidFill>
                <a:srgbClr val="E0E0DC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</a:rPr>
              <a:t>continue;</a:t>
            </a:r>
          </a:p>
        </p:txBody>
      </p:sp>
      <p:sp>
        <p:nvSpPr>
          <p:cNvPr id="7" name="Shape 5"/>
          <p:cNvSpPr/>
          <p:nvPr/>
        </p:nvSpPr>
        <p:spPr>
          <a:xfrm>
            <a:off x="5394960" y="1261872"/>
            <a:ext cx="3429000" cy="80467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394960" y="1261872"/>
            <a:ext cx="36576" cy="804672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504688" y="1316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4A5C"/>
                </a:solidFill>
              </a:rPr>
              <a:t>清除畫面 + 顯示資訊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504688" y="16093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每回合重繪：連勝數、中文提示、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遮蔽字串、剩餘血量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5394960" y="2176272"/>
            <a:ext cx="3429000" cy="80467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394960" y="2176272"/>
            <a:ext cx="36576" cy="804672"/>
          </a:xfrm>
          <a:prstGeom prst="rect">
            <a:avLst/>
          </a:prstGeom>
          <a:solidFill>
            <a:srgbClr val="6A9060"/>
          </a:solidFill>
          <a:ln w="12700">
            <a:solidFill>
              <a:srgbClr val="6A9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504688" y="2231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4A5C"/>
                </a:solidFill>
              </a:rPr>
              <a:t>寵物情緒連動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504688" y="25237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hp == 1 → LOW_HP 緊張表情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其餘回合 → IDLE 平靜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5394960" y="3090672"/>
            <a:ext cx="3429000" cy="80467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394960" y="3090672"/>
            <a:ext cx="36576" cy="804672"/>
          </a:xfrm>
          <a:prstGeom prst="rect">
            <a:avLst/>
          </a:prstGeom>
          <a:solidFill>
            <a:srgbClr val="C07040"/>
          </a:solidFill>
          <a:ln w="12700">
            <a:solidFill>
              <a:srgbClr val="C07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504688" y="3145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4A5C"/>
                </a:solidFill>
              </a:rPr>
              <a:t>輸入前處理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504688" y="34381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tolower() 統一小寫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長度不符 → continue 不扣血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輸入處理與逐字元比對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9AA"/>
                </a:solidFill>
              </a:rPr>
              <a:t>小寫轉換 · 長度驗證 · 答題邏輯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4A5C"/>
                </a:solidFill>
              </a:rPr>
              <a:t>① 輸入前處理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931920" cy="1508760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682496"/>
            <a:ext cx="36758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guessWord.length(); i++)
  guessWord[i] = tolower(guessWord[i]);
</a:t>
            </a:r>
            <a:r>
              <a:rPr lang="en-US" sz="100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(guessWord.length() != answer.length())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continue;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4A5C"/>
                </a:solidFill>
              </a:rPr>
              <a:t>② 逐字元比對邏輯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709160" y="1572768"/>
            <a:ext cx="4069080" cy="1508760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682496"/>
            <a:ext cx="3803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(currentWord[i] ==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'_'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 // 遮罩格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(guessWord[i] == answer[i])
    currentWord[i] = guessWord[i];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hasMistake =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// 已知字母打錯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hasMistake = 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2697480" cy="169164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4A5C"/>
                </a:solidFill>
              </a:rPr>
              <a:t>tolower()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242316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確保比較一致性，大小寫都能接受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410712" y="3154680"/>
            <a:ext cx="2697480" cy="169164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913632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4A5C"/>
                </a:solidFill>
              </a:rPr>
              <a:t>長度驗證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547872" y="3730752"/>
            <a:ext cx="242316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547872" y="380390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字數不對直接 continue，不扣血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6318504" y="3154680"/>
            <a:ext cx="2697480" cy="169164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821424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4A5C"/>
                </a:solidFill>
              </a:rPr>
              <a:t>只比 _ 位置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455664" y="3730752"/>
            <a:ext cx="242316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455664" y="380390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899AA"/>
                </a:solidFill>
              </a:rPr>
              <a:t>已填對的格不會重複扣分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startGame() — 比對、扣血與結局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9AA"/>
                </a:solidFill>
              </a:rPr>
              <a:t>逐字元判斷 · HP 扣除 · 勝負輸出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1261871"/>
            <a:ext cx="4846320" cy="3832642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459028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bool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hasMistake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= false;</a:t>
            </a:r>
            <a:br>
              <a:rPr lang="en-US" sz="1000">
                <a:solidFill>
                  <a:srgbClr val="E0E0DC"/>
                </a:solidFill>
                <a:latin typeface="Consolas" pitchFamily="34" charset="0"/>
              </a:rPr>
            </a:b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answer.length(); i++) {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(currentWord[i] ==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'_'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(guessWord[i] == answer[i])
      currentWord[i] = guessWord[i];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hasMistake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       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wrongFeedback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+= "- 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第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"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+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to_string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(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i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 + 1) + " 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格錯了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(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你輸入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"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 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+</a:t>
            </a:r>
            <a:r>
              <a:rPr lang="zh-TW" altLang="en-US" sz="1000">
                <a:solidFill>
                  <a:srgbClr val="E0E0DC"/>
                </a:solidFill>
                <a:latin typeface="Consolas" pitchFamily="34" charset="0"/>
              </a:rPr>
              <a:t> 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guessWord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[</a:t>
            </a:r>
            <a:r>
              <a:rPr lang="en-US" altLang="zh-TW" sz="1000" err="1">
                <a:solidFill>
                  <a:srgbClr val="E0E0DC"/>
                </a:solidFill>
                <a:latin typeface="Consolas" pitchFamily="34" charset="0"/>
              </a:rPr>
              <a:t>i</a:t>
            </a:r>
            <a:r>
              <a:rPr lang="en-US" altLang="zh-TW" sz="1000">
                <a:solidFill>
                  <a:srgbClr val="E0E0DC"/>
                </a:solidFill>
                <a:latin typeface="Consolas" pitchFamily="34" charset="0"/>
              </a:rPr>
              <a:t>] + ")\n"; 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}
}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(hasMistake) {
</a:t>
            </a:r>
            <a:r>
              <a:rPr lang="en-US" sz="1000">
                <a:solidFill>
                  <a:srgbClr val="F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hp--;
</a:t>
            </a:r>
            <a:r>
              <a:rPr lang="en-US" sz="10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companion.show(Pet::WORRIED);
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companion.show(Pet::HAPPY); </a:t>
            </a:r>
          </a:p>
          <a:p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100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(hp ==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won=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</a:p>
          <a:p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err="1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companion.show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(LOSE); </a:t>
            </a:r>
          </a:p>
          <a:p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won=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companion.show(WIN); }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5394960" y="1261872"/>
            <a:ext cx="3429000" cy="80467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394960" y="1261872"/>
            <a:ext cx="36576" cy="804672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504688" y="1316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4A5C"/>
                </a:solidFill>
              </a:rPr>
              <a:t>只比對 _ 位置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504688" y="16093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已填對的格不重複判斷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避免錯誤累加扣分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5394960" y="2176272"/>
            <a:ext cx="3429000" cy="80467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394960" y="2176272"/>
            <a:ext cx="36576" cy="804672"/>
          </a:xfrm>
          <a:prstGeom prst="rect">
            <a:avLst/>
          </a:prstGeom>
          <a:solidFill>
            <a:srgbClr val="C07040"/>
          </a:solidFill>
          <a:ln w="12700">
            <a:solidFill>
              <a:srgbClr val="C07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504688" y="2231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4A5C"/>
                </a:solidFill>
              </a:rPr>
              <a:t>扣血 + 寵物反應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504688" y="25237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hasMistake → hp--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答錯顯示 WORRIED，答對顯示 HAPPY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5394960" y="3090672"/>
            <a:ext cx="3429000" cy="80467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394960" y="3090672"/>
            <a:ext cx="36576" cy="804672"/>
          </a:xfrm>
          <a:prstGeom prst="rect">
            <a:avLst/>
          </a:prstGeom>
          <a:solidFill>
            <a:srgbClr val="6A9060"/>
          </a:solidFill>
          <a:ln w="12700">
            <a:solidFill>
              <a:srgbClr val="6A9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504688" y="3145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4A5C"/>
                </a:solidFill>
              </a:rPr>
              <a:t>勝負設定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504688" y="34381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won 旗標記錄結果供 ScoreBoard 使用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LOSE / WIN 觸發對應寵物表情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Pet.h — 標頭檔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572000" cy="3611880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431596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Pet {
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r>
              <a:rPr lang="en-US" sz="10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Mood {
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IDLE, HAPPY, WORRIED,
    LOW_HP, WIN, LOSE
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
  Pet(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name = "Coddy");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show(Mood mood)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getName()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name; </a:t>
            </a:r>
          </a:p>
          <a:p>
            <a:pPr marL="0" indent="0">
              <a:buNone/>
            </a:pP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drawBody(Mood)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pickReaction(Mood) </a:t>
            </a:r>
            <a:r>
              <a:rPr lang="en-US" sz="10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};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5074920" y="1261872"/>
            <a:ext cx="3749040" cy="128016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074920" y="1261872"/>
            <a:ext cx="36576" cy="1143000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184648" y="13167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A4A5C"/>
                </a:solidFill>
              </a:rPr>
              <a:t>enum Mood — 6 種情緒狀態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184648" y="1572768"/>
            <a:ext cx="356616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184648" y="1627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IDLE：開始，平靜等待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5184648" y="18562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HAPPY：本回合答對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5184648" y="20848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WORRIED：本回合答錯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184648" y="2313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LOW_HP：血量剩 1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5184648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WIN：猜出完整單字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5184648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LOSE：血量歸零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5074920" y="2523744"/>
            <a:ext cx="3749040" cy="1207008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074920" y="2523744"/>
            <a:ext cx="36576" cy="1143000"/>
          </a:xfrm>
          <a:prstGeom prst="rect">
            <a:avLst/>
          </a:prstGeom>
          <a:solidFill>
            <a:srgbClr val="6A9060"/>
          </a:solidFill>
          <a:ln w="12700">
            <a:solidFill>
              <a:srgbClr val="6A9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184648" y="2578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A4A5C"/>
                </a:solidFill>
              </a:rPr>
              <a:t>public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184648" y="2834640"/>
            <a:ext cx="356616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184648" y="28895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Pet()：建構子，預設名稱 Coddy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5184648" y="3118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show(Mood)：對外唯一呼叫入口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5184648" y="33467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getName()：取得寵物名稱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5074920" y="3785616"/>
            <a:ext cx="3749040" cy="1207008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074920" y="3785616"/>
            <a:ext cx="36576" cy="1143000"/>
          </a:xfrm>
          <a:prstGeom prst="rect">
            <a:avLst/>
          </a:prstGeom>
          <a:solidFill>
            <a:srgbClr val="C07040"/>
          </a:solidFill>
          <a:ln w="12700">
            <a:solidFill>
              <a:srgbClr val="C07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184648" y="3840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A4A5C"/>
                </a:solidFill>
              </a:rPr>
              <a:t>private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5184648" y="4096512"/>
            <a:ext cx="356616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184648" y="41513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drawBody()：繪製 ASCII 圖案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5184648" y="4379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· pickReaction()：隨機選台詞</a:t>
            </a:r>
            <a:endParaRPr lang="en-US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Pet.cpp — 實作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572000" cy="3881628"/>
          </a:xfrm>
          <a:prstGeom prst="rect">
            <a:avLst/>
          </a:prstGeom>
          <a:solidFill>
            <a:srgbClr val="2D3A48"/>
          </a:solidFill>
          <a:ln w="12700">
            <a:solidFill>
              <a:srgbClr val="2D3A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93776" y="1287018"/>
            <a:ext cx="4315968" cy="3753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Pet::show(Mood mood) </a:t>
            </a:r>
            <a:r>
              <a:rPr lang="en-US" sz="9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  drawBody(mood);
  cout</a:t>
            </a:r>
            <a:r>
              <a:rPr lang="en-US" sz="900">
                <a:solidFill>
                  <a:srgbClr val="99C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name &lt;&lt; "：「"&lt;&lt; pickReaction(mood) &lt;&lt; "」";
}</a:t>
            </a:r>
            <a:r>
              <a:rPr lang="en-US" sz="90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Pet::drawBody(Mood mood) </a:t>
            </a:r>
            <a:r>
              <a:rPr lang="en-US" sz="9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(mood)</a:t>
            </a:r>
            <a:r>
              <a:rPr lang="en-US" sz="900" b="1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HAPPY:
    cout &lt;&lt; " ( ^.^ )";
    break;
</a:t>
            </a:r>
            <a:r>
              <a:rPr lang="en-US" sz="900" b="1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WIN:
    cout &lt;&lt; " ( ^o^ )"; break;
  // ...
  }
}</a:t>
            </a:r>
            <a:r>
              <a:rPr lang="en-US" sz="900" i="1">
                <a:solidFill>
                  <a:srgbClr val="707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b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Pet::pickReaction(Mood mood) </a:t>
            </a:r>
            <a:r>
              <a:rPr lang="en-US" sz="90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vector&lt;string&gt;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lines;</a:t>
            </a:r>
            <a:endParaRPr lang="en-US" sz="900"/>
          </a:p>
          <a:p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switch(mood) {</a:t>
            </a:r>
            <a:r>
              <a:rPr lang="en-US" altLang="zh-TW" sz="900">
                <a:solidFill>
                  <a:srgbClr val="E0E0DC"/>
                </a:solidFill>
                <a:latin typeface="Consolas" pitchFamily="34" charset="0"/>
              </a:rPr>
              <a:t>case IDLE:</a:t>
            </a:r>
          </a:p>
          <a:p>
            <a:r>
              <a:rPr lang="en-US" altLang="zh-TW" sz="900">
                <a:solidFill>
                  <a:srgbClr val="E0E0DC"/>
                </a:solidFill>
                <a:latin typeface="Consolas" pitchFamily="34" charset="0"/>
              </a:rPr>
              <a:t>    lines = {</a:t>
            </a:r>
          </a:p>
          <a:p>
            <a:r>
              <a:rPr lang="zh-TW" altLang="en-US" sz="900">
                <a:solidFill>
                  <a:srgbClr val="E0E0DC"/>
                </a:solidFill>
                <a:latin typeface="Consolas" pitchFamily="34" charset="0"/>
              </a:rPr>
              <a:t>        </a:t>
            </a:r>
            <a:r>
              <a:rPr lang="en-US" altLang="zh-TW" sz="900">
                <a:solidFill>
                  <a:srgbClr val="E0E0DC"/>
                </a:solidFill>
                <a:latin typeface="Consolas" pitchFamily="34" charset="0"/>
              </a:rPr>
              <a:t>"</a:t>
            </a:r>
            <a:r>
              <a:rPr lang="zh-TW" altLang="en-US" sz="900">
                <a:solidFill>
                  <a:srgbClr val="E0E0DC"/>
                </a:solidFill>
                <a:latin typeface="Consolas" pitchFamily="34" charset="0"/>
              </a:rPr>
              <a:t>開始吧。</a:t>
            </a:r>
            <a:r>
              <a:rPr lang="en-US" altLang="zh-TW" sz="900">
                <a:solidFill>
                  <a:srgbClr val="E0E0DC"/>
                </a:solidFill>
                <a:latin typeface="Consolas" pitchFamily="34" charset="0"/>
              </a:rPr>
              <a:t>"</a:t>
            </a:r>
          </a:p>
          <a:p>
            <a:r>
              <a:rPr lang="zh-TW" altLang="en-US" sz="900">
                <a:solidFill>
                  <a:srgbClr val="E0E0DC"/>
                </a:solidFill>
                <a:latin typeface="Consolas" pitchFamily="34" charset="0"/>
              </a:rPr>
              <a:t>    </a:t>
            </a:r>
            <a:r>
              <a:rPr lang="en-US" altLang="zh-TW" sz="900">
                <a:solidFill>
                  <a:srgbClr val="E0E0DC"/>
                </a:solidFill>
                <a:latin typeface="Consolas" pitchFamily="34" charset="0"/>
              </a:rPr>
              <a:t>};</a:t>
            </a:r>
          </a:p>
          <a:p>
            <a:r>
              <a:rPr lang="en-US" altLang="zh-TW" sz="900">
                <a:solidFill>
                  <a:srgbClr val="E0E0DC"/>
                </a:solidFill>
                <a:latin typeface="Consolas" pitchFamily="34" charset="0"/>
              </a:rPr>
              <a:t>    break;</a:t>
            </a:r>
            <a:r>
              <a:rPr lang="en-US" sz="900">
                <a:solidFill>
                  <a:srgbClr val="E0E0DC"/>
                </a:solidFill>
                <a:latin typeface="Consolas" pitchFamily="34" charset="0"/>
              </a:rPr>
              <a:t> </a:t>
            </a:r>
          </a:p>
          <a:p>
            <a:r>
              <a:rPr lang="en-US" sz="900">
                <a:solidFill>
                  <a:srgbClr val="E0E0DC"/>
                </a:solidFill>
                <a:latin typeface="Consolas" pitchFamily="34" charset="0"/>
              </a:rPr>
              <a:t>}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E0E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074920" y="1261872"/>
            <a:ext cx="374904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074920" y="1261872"/>
            <a:ext cx="36576" cy="1078992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184648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A4A5C"/>
                </a:solidFill>
              </a:rPr>
              <a:t>show() — 公開整合入口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184648" y="1600200"/>
            <a:ext cx="356616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184648" y="16642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呼叫 drawBody() 印出貓咪圖案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再呼叫 pickReaction() 印出台詞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外部只需這一個方法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5074920" y="2450592"/>
            <a:ext cx="374904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074920" y="2450592"/>
            <a:ext cx="36576" cy="1078992"/>
          </a:xfrm>
          <a:prstGeom prst="rect">
            <a:avLst/>
          </a:prstGeom>
          <a:solidFill>
            <a:srgbClr val="6A9060"/>
          </a:solidFill>
          <a:ln w="12700">
            <a:solidFill>
              <a:srgbClr val="6A9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184648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A4A5C"/>
                </a:solidFill>
              </a:rPr>
              <a:t>drawBody() — ASCII 圖案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184648" y="2788920"/>
            <a:ext cx="356616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184648" y="28529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switch(mood) 對應 6 種造型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每種 Mood 有不同臉部表情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如 HAPPY→^.^  WIN→^o^  LOSE→T_T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5074920" y="3639312"/>
            <a:ext cx="3749040" cy="1078992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074920" y="3639312"/>
            <a:ext cx="36576" cy="1078992"/>
          </a:xfrm>
          <a:prstGeom prst="rect">
            <a:avLst/>
          </a:prstGeom>
          <a:solidFill>
            <a:srgbClr val="C07040"/>
          </a:solidFill>
          <a:ln w="12700">
            <a:solidFill>
              <a:srgbClr val="C07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184648" y="3703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A4A5C"/>
                </a:solidFill>
              </a:rPr>
              <a:t>pickReaction() — 隨機台詞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184648" y="3977640"/>
            <a:ext cx="356616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184648" y="40416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vector&lt;string&gt; 儲存多句備選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rand() % size() 隨機選一句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899AA"/>
                </a:solidFill>
              </a:rPr>
              <a:t>避免每次反應相同，更生動</a:t>
            </a:r>
            <a:endParaRPr lang="en-US" sz="95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FA10DD31-4B25-1C43-39BC-37B519E74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50" y="4421626"/>
            <a:ext cx="1864832" cy="5933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遊戲執行展示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9AA"/>
                </a:solidFill>
              </a:rPr>
              <a:t>實際運行畫面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16736"/>
            <a:ext cx="3977640" cy="15087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80892" y="1148814"/>
            <a:ext cx="2722098" cy="1972618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2962655"/>
            <a:ext cx="3977640" cy="2080613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79963" y="3160659"/>
            <a:ext cx="3977640" cy="18826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3A4A5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69164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0100" y="16733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6A7A8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main.cpp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108045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入口 / 難度選擇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25614" y="1325880"/>
            <a:ext cx="2011680" cy="1417320"/>
          </a:xfrm>
          <a:prstGeom prst="rect">
            <a:avLst/>
          </a:prstGeom>
          <a:solidFill>
            <a:srgbClr val="EDE8E0"/>
          </a:solidFill>
          <a:ln w="19050">
            <a:solidFill>
              <a:srgbClr val="D8CFC4"/>
            </a:solidFill>
            <a:prstDash val="solid"/>
          </a:ln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42603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6A7A8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GameManager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6A7A8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遊戲主流程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59791" y="1355774"/>
            <a:ext cx="1691640" cy="1417320"/>
          </a:xfrm>
          <a:prstGeom prst="rect">
            <a:avLst/>
          </a:prstGeom>
          <a:solidFill>
            <a:srgbClr val="EDE8E0"/>
          </a:solidFill>
          <a:ln w="19050">
            <a:solidFill>
              <a:srgbClr val="D8CF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37031" y="167616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6A7A8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6A7A8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20741" y="21031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寵物反應顯示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691640" cy="141732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0100" y="3364992"/>
            <a:ext cx="94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WordBank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5A7F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2748" y="3800387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單字載入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98080" y="1325880"/>
            <a:ext cx="1417320" cy="141732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18120" y="168038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ScoreBoard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5A7F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55280" y="206443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紀錄讀寫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82715" y="1975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3925" y="1947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2003" y="1947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8CF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67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0EA"/>
            </a:solidFill>
          </p:spPr>
          <p:txBody>
            <a:bodyPr/>
            <a:lstStyle/>
            <a:p>
              <a:endParaRPr lang="zh-TW" altLang="en-US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0641" y="393054"/>
            <a:ext cx="1034506" cy="255242"/>
            <a:chOff x="0" y="0"/>
            <a:chExt cx="2758681" cy="6806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58694" cy="680593"/>
            </a:xfrm>
            <a:custGeom>
              <a:avLst/>
              <a:gdLst/>
              <a:ahLst/>
              <a:cxnLst/>
              <a:rect l="l" t="t" r="r" b="b"/>
              <a:pathLst>
                <a:path w="2758694" h="680593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2714752" y="0"/>
                  </a:lnTo>
                  <a:cubicBezTo>
                    <a:pt x="2739009" y="0"/>
                    <a:pt x="2758694" y="19685"/>
                    <a:pt x="2758694" y="43942"/>
                  </a:cubicBezTo>
                  <a:lnTo>
                    <a:pt x="2758694" y="636651"/>
                  </a:lnTo>
                  <a:cubicBezTo>
                    <a:pt x="2758694" y="660908"/>
                    <a:pt x="2739009" y="680593"/>
                    <a:pt x="2714752" y="680593"/>
                  </a:cubicBezTo>
                  <a:lnTo>
                    <a:pt x="43942" y="680593"/>
                  </a:lnTo>
                  <a:cubicBezTo>
                    <a:pt x="19685" y="680593"/>
                    <a:pt x="0" y="660908"/>
                    <a:pt x="0" y="636651"/>
                  </a:cubicBezTo>
                  <a:close/>
                </a:path>
              </a:pathLst>
            </a:custGeom>
            <a:solidFill>
              <a:srgbClr val="E6E6E5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3018" y="400869"/>
            <a:ext cx="1326952" cy="15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36"/>
              </a:lnSpc>
            </a:pPr>
            <a:r>
              <a:rPr lang="en-US" sz="8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WORDBANK 模組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0641" y="682452"/>
            <a:ext cx="3890591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0"/>
              </a:lnSpc>
            </a:pPr>
            <a:r>
              <a:rPr lang="en-US" sz="2700">
                <a:solidFill>
                  <a:srgbClr val="1D1D1B"/>
                </a:solidFill>
                <a:latin typeface="Tomorrow"/>
                <a:ea typeface="Tomorrow"/>
                <a:cs typeface="Tomorrow"/>
                <a:sym typeface="Tomorrow"/>
              </a:rPr>
              <a:t>單字載入流程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0641" y="1287290"/>
            <a:ext cx="5210918" cy="19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0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WordBank 模組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480641" y="1696122"/>
            <a:ext cx="2310332" cy="1001540"/>
          </a:xfrm>
          <a:custGeom>
            <a:avLst/>
            <a:gdLst/>
            <a:ahLst/>
            <a:cxnLst/>
            <a:rect l="l" t="t" r="r" b="b"/>
            <a:pathLst>
              <a:path w="4620663" h="2003079">
                <a:moveTo>
                  <a:pt x="0" y="0"/>
                </a:moveTo>
                <a:lnTo>
                  <a:pt x="4620663" y="0"/>
                </a:lnTo>
                <a:lnTo>
                  <a:pt x="4620663" y="2003079"/>
                </a:lnTo>
                <a:lnTo>
                  <a:pt x="0" y="2003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75" b="-75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777478" y="1823890"/>
            <a:ext cx="1716658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單字載入流程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935" y="2084861"/>
            <a:ext cx="2035745" cy="41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0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將 TXT 單字檔讀入遊戲記憶體中，供後續題目生成使用。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2923951" y="1696122"/>
            <a:ext cx="2310408" cy="1001540"/>
          </a:xfrm>
          <a:custGeom>
            <a:avLst/>
            <a:gdLst/>
            <a:ahLst/>
            <a:cxnLst/>
            <a:rect l="l" t="t" r="r" b="b"/>
            <a:pathLst>
              <a:path w="4620816" h="2003079">
                <a:moveTo>
                  <a:pt x="0" y="0"/>
                </a:moveTo>
                <a:lnTo>
                  <a:pt x="4620816" y="0"/>
                </a:lnTo>
                <a:lnTo>
                  <a:pt x="4620816" y="2003079"/>
                </a:lnTo>
                <a:lnTo>
                  <a:pt x="0" y="2003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77" b="-76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3220789" y="1823890"/>
            <a:ext cx="1716658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檔案管理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61245" y="2084861"/>
            <a:ext cx="2035821" cy="41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0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不同難度對應不同的 TXT 檔，方便分級維護與擴充題庫。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480641" y="2830635"/>
            <a:ext cx="2310332" cy="1001540"/>
          </a:xfrm>
          <a:custGeom>
            <a:avLst/>
            <a:gdLst/>
            <a:ahLst/>
            <a:cxnLst/>
            <a:rect l="l" t="t" r="r" b="b"/>
            <a:pathLst>
              <a:path w="4620663" h="2003079">
                <a:moveTo>
                  <a:pt x="0" y="0"/>
                </a:moveTo>
                <a:lnTo>
                  <a:pt x="4620663" y="0"/>
                </a:lnTo>
                <a:lnTo>
                  <a:pt x="4620663" y="2003079"/>
                </a:lnTo>
                <a:lnTo>
                  <a:pt x="0" y="2003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75" b="-75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777478" y="2958403"/>
            <a:ext cx="1716658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讀取方式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935" y="3219374"/>
            <a:ext cx="2035745" cy="41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0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使用 ifstream 開啟檔案，再用 getline 逐行讀入單字。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2923951" y="2830635"/>
            <a:ext cx="2310408" cy="1001540"/>
          </a:xfrm>
          <a:custGeom>
            <a:avLst/>
            <a:gdLst/>
            <a:ahLst/>
            <a:cxnLst/>
            <a:rect l="l" t="t" r="r" b="b"/>
            <a:pathLst>
              <a:path w="4620816" h="2003079">
                <a:moveTo>
                  <a:pt x="0" y="0"/>
                </a:moveTo>
                <a:lnTo>
                  <a:pt x="4620816" y="0"/>
                </a:lnTo>
                <a:lnTo>
                  <a:pt x="4620816" y="2003079"/>
                </a:lnTo>
                <a:lnTo>
                  <a:pt x="0" y="2003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77" b="-76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3220789" y="2958403"/>
            <a:ext cx="1716658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資料結構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61245" y="3219374"/>
            <a:ext cx="2035821" cy="41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0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以 vector 儲存單字，能依資料量動態擴充，不需預先固定大小。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480641" y="3965153"/>
            <a:ext cx="4753718" cy="785217"/>
          </a:xfrm>
          <a:custGeom>
            <a:avLst/>
            <a:gdLst/>
            <a:ahLst/>
            <a:cxnLst/>
            <a:rect l="l" t="t" r="r" b="b"/>
            <a:pathLst>
              <a:path w="9507436" h="1570434">
                <a:moveTo>
                  <a:pt x="0" y="0"/>
                </a:moveTo>
                <a:lnTo>
                  <a:pt x="9507436" y="0"/>
                </a:lnTo>
                <a:lnTo>
                  <a:pt x="9507436" y="1570435"/>
                </a:lnTo>
                <a:lnTo>
                  <a:pt x="0" y="1570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" r="-4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999136" y="4092921"/>
            <a:ext cx="1716658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效能優勢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7935" y="4353892"/>
            <a:ext cx="4479131" cy="19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0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先載入記憶體後直接隨機選字，減少磁碟讀取，讓出題更快、更穩定。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50973C45-0735-6741-C20C-D54EC9FB6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14" y="624207"/>
            <a:ext cx="3742129" cy="522500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8E2E9805-AFEA-57D1-3218-ADB46FAED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116" y="1338854"/>
            <a:ext cx="3742128" cy="127871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66BA39AA-1956-8495-BFFF-4D9B0963A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115" y="2834554"/>
            <a:ext cx="3742129" cy="552302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C2B3E3E8-8BC4-1EBA-FB45-D301C3F157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114" y="3616703"/>
            <a:ext cx="3742129" cy="9327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2339"/>
            <a:ext cx="9144000" cy="5143500"/>
            <a:chOff x="0" y="0"/>
            <a:chExt cx="24384000" cy="13716000"/>
          </a:xfrm>
          <a:solidFill>
            <a:srgbClr val="F5F0EA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6119" y="505940"/>
            <a:ext cx="1183558" cy="266400"/>
            <a:chOff x="0" y="0"/>
            <a:chExt cx="3156153" cy="710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56077" cy="710438"/>
            </a:xfrm>
            <a:custGeom>
              <a:avLst/>
              <a:gdLst/>
              <a:ahLst/>
              <a:cxnLst/>
              <a:rect l="l" t="t" r="r" b="b"/>
              <a:pathLst>
                <a:path w="3156077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110738" y="0"/>
                  </a:lnTo>
                  <a:cubicBezTo>
                    <a:pt x="3135757" y="0"/>
                    <a:pt x="3156077" y="20320"/>
                    <a:pt x="3156077" y="45339"/>
                  </a:cubicBezTo>
                  <a:lnTo>
                    <a:pt x="3156077" y="665099"/>
                  </a:lnTo>
                  <a:cubicBezTo>
                    <a:pt x="3156077" y="690118"/>
                    <a:pt x="3135757" y="710438"/>
                    <a:pt x="3110738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6E6E5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1173" y="510331"/>
            <a:ext cx="1470646" cy="16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7"/>
              </a:lnSpc>
            </a:pPr>
            <a:r>
              <a:rPr lang="en-US" sz="8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SCOREBOARD 模組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6119" y="819522"/>
            <a:ext cx="4001319" cy="4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2"/>
              </a:lnSpc>
            </a:pPr>
            <a:r>
              <a:rPr lang="en-US" sz="2750">
                <a:solidFill>
                  <a:srgbClr val="1D1D1B"/>
                </a:solidFill>
                <a:latin typeface="Tomorrow"/>
                <a:ea typeface="Tomorrow"/>
                <a:cs typeface="Tomorrow"/>
                <a:sym typeface="Tomorrow"/>
              </a:rPr>
              <a:t>計分存檔流程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96119" y="1484633"/>
            <a:ext cx="318940" cy="318940"/>
            <a:chOff x="0" y="0"/>
            <a:chExt cx="850506" cy="8505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A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9288" y="1511203"/>
            <a:ext cx="212603" cy="265805"/>
            <a:chOff x="0" y="0"/>
            <a:chExt cx="566941" cy="7088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1" r="-11041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1615C"/>
                  </a:solidFill>
                  <a:latin typeface="Tomorrow"/>
                  <a:ea typeface="Tomorrow"/>
                  <a:cs typeface="Tomorrow"/>
                  <a:sym typeface="Tomorrow"/>
                </a:rPr>
                <a:t>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6815" y="1523776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Scoreboard 模組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6815" y="1796949"/>
            <a:ext cx="1812055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計分存檔流程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946054" y="1484633"/>
            <a:ext cx="318940" cy="318940"/>
            <a:chOff x="0" y="0"/>
            <a:chExt cx="850506" cy="8505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A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999223" y="1511203"/>
            <a:ext cx="212603" cy="265805"/>
            <a:chOff x="0" y="0"/>
            <a:chExt cx="566941" cy="7088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1" r="-11041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1615C"/>
                  </a:solidFill>
                  <a:latin typeface="Tomorrow"/>
                  <a:ea typeface="Tomorrow"/>
                  <a:cs typeface="Tomorrow"/>
                  <a:sym typeface="Tomorrow"/>
                </a:rPr>
                <a:t>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406750" y="1523776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即時計分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06750" y="1796949"/>
            <a:ext cx="1812131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遊戲進行中更新分數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96119" y="2350146"/>
            <a:ext cx="318940" cy="318940"/>
            <a:chOff x="0" y="0"/>
            <a:chExt cx="850506" cy="8505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A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9288" y="2376712"/>
            <a:ext cx="212603" cy="265805"/>
            <a:chOff x="0" y="0"/>
            <a:chExt cx="566941" cy="7088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1" r="-11041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1615C"/>
                  </a:solidFill>
                  <a:latin typeface="Tomorrow"/>
                  <a:ea typeface="Tomorrow"/>
                  <a:cs typeface="Tomorrow"/>
                  <a:sym typeface="Tomorrow"/>
                </a:rPr>
                <a:t>3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56815" y="2389289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分數比較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6815" y="2662462"/>
            <a:ext cx="1812055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本次 vs 最高分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2946054" y="2350146"/>
            <a:ext cx="318940" cy="318940"/>
            <a:chOff x="0" y="0"/>
            <a:chExt cx="850506" cy="8505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A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999223" y="2376712"/>
            <a:ext cx="212603" cy="265805"/>
            <a:chOff x="0" y="0"/>
            <a:chExt cx="566941" cy="70881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1" r="-11041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1615C"/>
                  </a:solidFill>
                  <a:latin typeface="Tomorrow"/>
                  <a:ea typeface="Tomorrow"/>
                  <a:cs typeface="Tomorrow"/>
                  <a:sym typeface="Tomorrow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3406750" y="2389289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檔案存檔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06750" y="2662462"/>
            <a:ext cx="1812131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ofstream 寫入 TXT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96119" y="3215655"/>
            <a:ext cx="318940" cy="318940"/>
            <a:chOff x="0" y="0"/>
            <a:chExt cx="850506" cy="8505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A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9288" y="3242220"/>
            <a:ext cx="212603" cy="265805"/>
            <a:chOff x="0" y="0"/>
            <a:chExt cx="566941" cy="7088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66936" cy="708819"/>
            </a:xfrm>
            <a:custGeom>
              <a:avLst/>
              <a:gdLst/>
              <a:ahLst/>
              <a:cxnLst/>
              <a:rect l="l" t="t" r="r" b="b"/>
              <a:pathLst>
                <a:path w="566936" h="708819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1" r="-11041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1615C"/>
                  </a:solidFill>
                  <a:latin typeface="Tomorrow"/>
                  <a:ea typeface="Tomorrow"/>
                  <a:cs typeface="Tomorrow"/>
                  <a:sym typeface="Tomorrow"/>
                </a:rPr>
                <a:t>5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56815" y="3254798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資料持久化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6815" y="3527970"/>
            <a:ext cx="4262066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永久保存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6119" y="3914256"/>
            <a:ext cx="4722762" cy="6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遊戲進行時會即時計分，並持續更新目前分數；結束後比較本次分數與最高分，若刷新紀錄就使用 ofstream 將新分數寫入 TXT 檔案，完成高分保存與資料持久化。</a:t>
            </a:r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2B258A10-FD87-0ED8-8EF4-2F22DBB77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880" y="839508"/>
            <a:ext cx="3782895" cy="591674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BC078C5C-A0C1-071D-6787-51C93343F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880" y="1681133"/>
            <a:ext cx="3782895" cy="868141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FC857613-03D4-4819-B8E8-6DD595ACC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210" y="2968580"/>
            <a:ext cx="3766565" cy="1693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0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21642" y="378395"/>
            <a:ext cx="610343" cy="207688"/>
            <a:chOff x="0" y="0"/>
            <a:chExt cx="1627581" cy="5538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7632" cy="553847"/>
            </a:xfrm>
            <a:custGeom>
              <a:avLst/>
              <a:gdLst/>
              <a:ahLst/>
              <a:cxnLst/>
              <a:rect l="l" t="t" r="r" b="b"/>
              <a:pathLst>
                <a:path w="1627632" h="553847">
                  <a:moveTo>
                    <a:pt x="0" y="37592"/>
                  </a:moveTo>
                  <a:cubicBezTo>
                    <a:pt x="0" y="16764"/>
                    <a:pt x="16764" y="0"/>
                    <a:pt x="37592" y="0"/>
                  </a:cubicBezTo>
                  <a:lnTo>
                    <a:pt x="1590040" y="0"/>
                  </a:lnTo>
                  <a:cubicBezTo>
                    <a:pt x="1610741" y="0"/>
                    <a:pt x="1627632" y="16764"/>
                    <a:pt x="1627632" y="37592"/>
                  </a:cubicBezTo>
                  <a:lnTo>
                    <a:pt x="1627632" y="516255"/>
                  </a:lnTo>
                  <a:cubicBezTo>
                    <a:pt x="1627632" y="536956"/>
                    <a:pt x="1610868" y="553847"/>
                    <a:pt x="1590040" y="553847"/>
                  </a:cubicBezTo>
                  <a:lnTo>
                    <a:pt x="37592" y="553847"/>
                  </a:lnTo>
                  <a:cubicBezTo>
                    <a:pt x="16764" y="553847"/>
                    <a:pt x="0" y="537083"/>
                    <a:pt x="0" y="516255"/>
                  </a:cubicBezTo>
                  <a:close/>
                </a:path>
              </a:pathLst>
            </a:custGeom>
            <a:solidFill>
              <a:srgbClr val="E6E6E5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2036" y="389782"/>
            <a:ext cx="926754" cy="11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5"/>
              </a:lnSpc>
            </a:pPr>
            <a:r>
              <a:rPr lang="en-US" sz="7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核心程式碼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1642" y="615406"/>
            <a:ext cx="4697092" cy="34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0"/>
              </a:lnSpc>
            </a:pPr>
            <a:r>
              <a:rPr lang="en-US" sz="2300">
                <a:solidFill>
                  <a:srgbClr val="1D1D1B"/>
                </a:solidFill>
                <a:latin typeface="Tomorrow"/>
                <a:ea typeface="Tomorrow"/>
                <a:cs typeface="Tomorrow"/>
                <a:sym typeface="Tomorrow"/>
              </a:rPr>
              <a:t>ifstream 讀檔 × ofstream 存檔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37107" y="1137566"/>
            <a:ext cx="4076181" cy="3627463"/>
            <a:chOff x="0" y="0"/>
            <a:chExt cx="10869816" cy="96732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869803" cy="9673209"/>
            </a:xfrm>
            <a:custGeom>
              <a:avLst/>
              <a:gdLst/>
              <a:ahLst/>
              <a:cxnLst/>
              <a:rect l="l" t="t" r="r" b="b"/>
              <a:pathLst>
                <a:path w="10869803" h="9673209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822940" y="0"/>
                  </a:lnTo>
                  <a:cubicBezTo>
                    <a:pt x="10848848" y="0"/>
                    <a:pt x="10869803" y="20955"/>
                    <a:pt x="10869803" y="46863"/>
                  </a:cubicBezTo>
                  <a:lnTo>
                    <a:pt x="10869803" y="9626346"/>
                  </a:lnTo>
                  <a:cubicBezTo>
                    <a:pt x="10869803" y="9652253"/>
                    <a:pt x="10848848" y="9673209"/>
                    <a:pt x="10822940" y="9673209"/>
                  </a:cubicBezTo>
                  <a:lnTo>
                    <a:pt x="46863" y="9673209"/>
                  </a:lnTo>
                  <a:cubicBezTo>
                    <a:pt x="20955" y="9673209"/>
                    <a:pt x="0" y="9652253"/>
                    <a:pt x="0" y="9626346"/>
                  </a:cubicBezTo>
                  <a:close/>
                </a:path>
              </a:pathLst>
            </a:custGeom>
            <a:solidFill>
              <a:srgbClr val="1D1D1B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54460" y="1229992"/>
            <a:ext cx="2323800" cy="169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5"/>
              </a:lnSpc>
            </a:pPr>
            <a:r>
              <a:rPr lang="en-US" sz="11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📂</a:t>
            </a:r>
            <a:r>
              <a:rPr lang="en-US" sz="115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讀取單字庫（ifstream）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460" y="1496321"/>
            <a:ext cx="3841476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遊戲開始前先開啟 words_easy.txt，把單字讀進記憶體供後續使用。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ifstream 適合用來讀取既有檔案，像是題庫或設定資料。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54460" y="2074517"/>
            <a:ext cx="3841476" cy="1093070"/>
            <a:chOff x="0" y="0"/>
            <a:chExt cx="10243934" cy="29148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3947" cy="2914904"/>
            </a:xfrm>
            <a:custGeom>
              <a:avLst/>
              <a:gdLst/>
              <a:ahLst/>
              <a:cxnLst/>
              <a:rect l="l" t="t" r="r" b="b"/>
              <a:pathLst>
                <a:path w="10243947" h="2914904">
                  <a:moveTo>
                    <a:pt x="0" y="46990"/>
                  </a:moveTo>
                  <a:cubicBezTo>
                    <a:pt x="0" y="21082"/>
                    <a:pt x="21082" y="0"/>
                    <a:pt x="46990" y="0"/>
                  </a:cubicBezTo>
                  <a:lnTo>
                    <a:pt x="10196957" y="0"/>
                  </a:lnTo>
                  <a:cubicBezTo>
                    <a:pt x="10222864" y="0"/>
                    <a:pt x="10243947" y="21082"/>
                    <a:pt x="10243947" y="46990"/>
                  </a:cubicBezTo>
                  <a:lnTo>
                    <a:pt x="10243947" y="2867914"/>
                  </a:lnTo>
                  <a:cubicBezTo>
                    <a:pt x="10243947" y="2893822"/>
                    <a:pt x="10222864" y="2914904"/>
                    <a:pt x="10196957" y="2914904"/>
                  </a:cubicBezTo>
                  <a:lnTo>
                    <a:pt x="46990" y="2914904"/>
                  </a:lnTo>
                  <a:cubicBezTo>
                    <a:pt x="21082" y="2914904"/>
                    <a:pt x="0" y="2893822"/>
                    <a:pt x="0" y="2867914"/>
                  </a:cubicBezTo>
                  <a:close/>
                </a:path>
              </a:pathLst>
            </a:custGeom>
            <a:solidFill>
              <a:srgbClr val="2A2A28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8655" y="2074517"/>
            <a:ext cx="3853087" cy="1093070"/>
            <a:chOff x="0" y="0"/>
            <a:chExt cx="10274897" cy="29148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74935" cy="2914904"/>
            </a:xfrm>
            <a:custGeom>
              <a:avLst/>
              <a:gdLst/>
              <a:ahLst/>
              <a:cxnLst/>
              <a:rect l="l" t="t" r="r" b="b"/>
              <a:pathLst>
                <a:path w="10274935" h="2914904">
                  <a:moveTo>
                    <a:pt x="0" y="46990"/>
                  </a:moveTo>
                  <a:cubicBezTo>
                    <a:pt x="0" y="21082"/>
                    <a:pt x="21082" y="0"/>
                    <a:pt x="46990" y="0"/>
                  </a:cubicBezTo>
                  <a:lnTo>
                    <a:pt x="10227945" y="0"/>
                  </a:lnTo>
                  <a:cubicBezTo>
                    <a:pt x="10253852" y="0"/>
                    <a:pt x="10274935" y="21082"/>
                    <a:pt x="10274935" y="46990"/>
                  </a:cubicBezTo>
                  <a:lnTo>
                    <a:pt x="10274935" y="2867914"/>
                  </a:lnTo>
                  <a:cubicBezTo>
                    <a:pt x="10274935" y="2893822"/>
                    <a:pt x="10253852" y="2914904"/>
                    <a:pt x="10227945" y="2914904"/>
                  </a:cubicBezTo>
                  <a:lnTo>
                    <a:pt x="46990" y="2914904"/>
                  </a:lnTo>
                  <a:cubicBezTo>
                    <a:pt x="21082" y="2914904"/>
                    <a:pt x="0" y="2893822"/>
                    <a:pt x="0" y="2867914"/>
                  </a:cubicBezTo>
                  <a:close/>
                </a:path>
              </a:pathLst>
            </a:custGeom>
            <a:solidFill>
              <a:srgbClr val="2A2A28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5401" y="2149002"/>
            <a:ext cx="3559598" cy="82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ifstream file("words_easy.txt");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(!file.is_open()) {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cout &lt;&lt; "無法開啟單字檔案" &lt;&lt; endl;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4460" y="3248325"/>
            <a:ext cx="4298676" cy="15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接著用 getline 逐行讀取內容，再存進 vector 中方便後續抽題。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54460" y="3562650"/>
            <a:ext cx="3841476" cy="1093070"/>
            <a:chOff x="0" y="0"/>
            <a:chExt cx="10243934" cy="29148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3947" cy="2914904"/>
            </a:xfrm>
            <a:custGeom>
              <a:avLst/>
              <a:gdLst/>
              <a:ahLst/>
              <a:cxnLst/>
              <a:rect l="l" t="t" r="r" b="b"/>
              <a:pathLst>
                <a:path w="10243947" h="2914904">
                  <a:moveTo>
                    <a:pt x="0" y="46990"/>
                  </a:moveTo>
                  <a:cubicBezTo>
                    <a:pt x="0" y="21082"/>
                    <a:pt x="21082" y="0"/>
                    <a:pt x="46990" y="0"/>
                  </a:cubicBezTo>
                  <a:lnTo>
                    <a:pt x="10196957" y="0"/>
                  </a:lnTo>
                  <a:cubicBezTo>
                    <a:pt x="10222864" y="0"/>
                    <a:pt x="10243947" y="21082"/>
                    <a:pt x="10243947" y="46990"/>
                  </a:cubicBezTo>
                  <a:lnTo>
                    <a:pt x="10243947" y="2867914"/>
                  </a:lnTo>
                  <a:cubicBezTo>
                    <a:pt x="10243947" y="2893822"/>
                    <a:pt x="10222864" y="2914904"/>
                    <a:pt x="10196957" y="2914904"/>
                  </a:cubicBezTo>
                  <a:lnTo>
                    <a:pt x="46990" y="2914904"/>
                  </a:lnTo>
                  <a:cubicBezTo>
                    <a:pt x="21082" y="2914904"/>
                    <a:pt x="0" y="2893822"/>
                    <a:pt x="0" y="2867914"/>
                  </a:cubicBezTo>
                  <a:close/>
                </a:path>
              </a:pathLst>
            </a:custGeom>
            <a:solidFill>
              <a:srgbClr val="2A2A28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8655" y="3562650"/>
            <a:ext cx="3853087" cy="1093070"/>
            <a:chOff x="0" y="0"/>
            <a:chExt cx="10274897" cy="291485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74935" cy="2914904"/>
            </a:xfrm>
            <a:custGeom>
              <a:avLst/>
              <a:gdLst/>
              <a:ahLst/>
              <a:cxnLst/>
              <a:rect l="l" t="t" r="r" b="b"/>
              <a:pathLst>
                <a:path w="10274935" h="2914904">
                  <a:moveTo>
                    <a:pt x="0" y="46990"/>
                  </a:moveTo>
                  <a:cubicBezTo>
                    <a:pt x="0" y="21082"/>
                    <a:pt x="21082" y="0"/>
                    <a:pt x="46990" y="0"/>
                  </a:cubicBezTo>
                  <a:lnTo>
                    <a:pt x="10227945" y="0"/>
                  </a:lnTo>
                  <a:cubicBezTo>
                    <a:pt x="10253852" y="0"/>
                    <a:pt x="10274935" y="21082"/>
                    <a:pt x="10274935" y="46990"/>
                  </a:cubicBezTo>
                  <a:lnTo>
                    <a:pt x="10274935" y="2867914"/>
                  </a:lnTo>
                  <a:cubicBezTo>
                    <a:pt x="10274935" y="2893822"/>
                    <a:pt x="10253852" y="2914904"/>
                    <a:pt x="10227945" y="2914904"/>
                  </a:cubicBezTo>
                  <a:lnTo>
                    <a:pt x="46990" y="2914904"/>
                  </a:lnTo>
                  <a:cubicBezTo>
                    <a:pt x="21082" y="2914904"/>
                    <a:pt x="0" y="2893822"/>
                    <a:pt x="0" y="2867914"/>
                  </a:cubicBezTo>
                  <a:close/>
                </a:path>
              </a:pathLst>
            </a:custGeom>
            <a:solidFill>
              <a:srgbClr val="2A2A28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5401" y="3637136"/>
            <a:ext cx="3559598" cy="82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string word;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vector&lt;string&gt; bank;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while (getline(file, word)) {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    bank.push_back(word);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19862" y="1229992"/>
            <a:ext cx="2373287" cy="169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5"/>
              </a:lnSpc>
            </a:pPr>
            <a:r>
              <a:rPr lang="en-US" sz="115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💾</a:t>
            </a:r>
            <a:r>
              <a:rPr lang="en-US" sz="1150">
                <a:solidFill>
                  <a:srgbClr val="1D1D1B"/>
                </a:solidFill>
                <a:latin typeface="Tomorrow"/>
                <a:ea typeface="Tomorrow"/>
                <a:cs typeface="Tomorrow"/>
                <a:sym typeface="Tomorrow"/>
              </a:rPr>
              <a:t> 寫入最高分（ofstream）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19862" y="1496321"/>
            <a:ext cx="3907112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遊戲結束時，先比較目前分數和最高分，只有破紀錄才更新檔案。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ofstream 用來把新資料寫回檔案，例如最高分或進度紀錄。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719862" y="2069754"/>
            <a:ext cx="3907112" cy="1093070"/>
            <a:chOff x="0" y="0"/>
            <a:chExt cx="10418966" cy="291485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19080" cy="2914904"/>
            </a:xfrm>
            <a:custGeom>
              <a:avLst/>
              <a:gdLst/>
              <a:ahLst/>
              <a:cxnLst/>
              <a:rect l="l" t="t" r="r" b="b"/>
              <a:pathLst>
                <a:path w="10419080" h="2914904">
                  <a:moveTo>
                    <a:pt x="0" y="46990"/>
                  </a:moveTo>
                  <a:cubicBezTo>
                    <a:pt x="0" y="21082"/>
                    <a:pt x="21082" y="0"/>
                    <a:pt x="46990" y="0"/>
                  </a:cubicBezTo>
                  <a:lnTo>
                    <a:pt x="10372090" y="0"/>
                  </a:lnTo>
                  <a:cubicBezTo>
                    <a:pt x="10397998" y="0"/>
                    <a:pt x="10419080" y="21082"/>
                    <a:pt x="10419080" y="46990"/>
                  </a:cubicBezTo>
                  <a:lnTo>
                    <a:pt x="10419080" y="2867914"/>
                  </a:lnTo>
                  <a:cubicBezTo>
                    <a:pt x="10419080" y="2893822"/>
                    <a:pt x="10397998" y="2914904"/>
                    <a:pt x="10372090" y="2914904"/>
                  </a:cubicBezTo>
                  <a:lnTo>
                    <a:pt x="46990" y="2914904"/>
                  </a:lnTo>
                  <a:cubicBezTo>
                    <a:pt x="21082" y="2914904"/>
                    <a:pt x="0" y="2893822"/>
                    <a:pt x="0" y="2867914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14056" y="2069754"/>
            <a:ext cx="3918719" cy="1093070"/>
            <a:chOff x="0" y="0"/>
            <a:chExt cx="10449916" cy="29148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449941" cy="2914904"/>
            </a:xfrm>
            <a:custGeom>
              <a:avLst/>
              <a:gdLst/>
              <a:ahLst/>
              <a:cxnLst/>
              <a:rect l="l" t="t" r="r" b="b"/>
              <a:pathLst>
                <a:path w="10449941" h="2914904">
                  <a:moveTo>
                    <a:pt x="0" y="46990"/>
                  </a:moveTo>
                  <a:cubicBezTo>
                    <a:pt x="0" y="21082"/>
                    <a:pt x="21082" y="0"/>
                    <a:pt x="46990" y="0"/>
                  </a:cubicBezTo>
                  <a:lnTo>
                    <a:pt x="10402951" y="0"/>
                  </a:lnTo>
                  <a:cubicBezTo>
                    <a:pt x="10428859" y="0"/>
                    <a:pt x="10449941" y="21082"/>
                    <a:pt x="10449941" y="46990"/>
                  </a:cubicBezTo>
                  <a:lnTo>
                    <a:pt x="10449941" y="2867914"/>
                  </a:lnTo>
                  <a:cubicBezTo>
                    <a:pt x="10449941" y="2893822"/>
                    <a:pt x="10428859" y="2914904"/>
                    <a:pt x="10402951" y="2914904"/>
                  </a:cubicBezTo>
                  <a:lnTo>
                    <a:pt x="46990" y="2914904"/>
                  </a:lnTo>
                  <a:cubicBezTo>
                    <a:pt x="21082" y="2914904"/>
                    <a:pt x="0" y="2893822"/>
                    <a:pt x="0" y="2867914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860803" y="2144240"/>
            <a:ext cx="3625230" cy="82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Consolas"/>
                <a:ea typeface="Consolas"/>
                <a:cs typeface="Consolas"/>
                <a:sym typeface="Consolas"/>
              </a:rPr>
              <a:t>ofstream file("score.txt");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Consolas"/>
                <a:ea typeface="Consolas"/>
                <a:cs typeface="Consolas"/>
                <a:sym typeface="Consolas"/>
              </a:rPr>
              <a:t>if (score &gt; highScore) {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Consolas"/>
                <a:ea typeface="Consolas"/>
                <a:cs typeface="Consolas"/>
                <a:sym typeface="Consolas"/>
              </a:rPr>
              <a:t>    file &lt;&lt; score;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Consolas"/>
                <a:ea typeface="Consolas"/>
                <a:cs typeface="Consolas"/>
                <a:sym typeface="Consolas"/>
              </a:rPr>
              <a:t>    highScore = score;</a:t>
            </a:r>
          </a:p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19862" y="3243558"/>
            <a:ext cx="4364312" cy="15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8"/>
              </a:lnSpc>
            </a:pPr>
            <a:r>
              <a:rPr lang="en-US" sz="9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這個流程通常出現在結算畫面或 Game Over 之後，用來完成分數保存。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  <a:solidFill>
            <a:srgbClr val="F5F0EA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6119" y="774726"/>
            <a:ext cx="850106" cy="266400"/>
            <a:chOff x="0" y="0"/>
            <a:chExt cx="22669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6950" cy="710438"/>
            </a:xfrm>
            <a:custGeom>
              <a:avLst/>
              <a:gdLst/>
              <a:ahLst/>
              <a:cxnLst/>
              <a:rect l="l" t="t" r="r" b="b"/>
              <a:pathLst>
                <a:path w="2266950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21611" y="0"/>
                  </a:lnTo>
                  <a:cubicBezTo>
                    <a:pt x="2246630" y="0"/>
                    <a:pt x="2266950" y="20320"/>
                    <a:pt x="2266950" y="45339"/>
                  </a:cubicBezTo>
                  <a:lnTo>
                    <a:pt x="2266950" y="665099"/>
                  </a:lnTo>
                  <a:cubicBezTo>
                    <a:pt x="2266950" y="690118"/>
                    <a:pt x="2246630" y="710438"/>
                    <a:pt x="2221611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6E6E5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1173" y="779117"/>
            <a:ext cx="1137195" cy="16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7"/>
              </a:lnSpc>
            </a:pPr>
            <a:r>
              <a:rPr lang="en-US" sz="8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遊戲流程整合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119" y="1088308"/>
            <a:ext cx="4001319" cy="4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2"/>
              </a:lnSpc>
            </a:pPr>
            <a:r>
              <a:rPr lang="en-US" sz="2750">
                <a:solidFill>
                  <a:srgbClr val="1D1D1B"/>
                </a:solidFill>
                <a:latin typeface="Tomorrow"/>
                <a:ea typeface="Tomorrow"/>
                <a:cs typeface="Tomorrow"/>
                <a:sym typeface="Tomorrow"/>
              </a:rPr>
              <a:t>完整遊戲流程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6119" y="1710557"/>
            <a:ext cx="8608962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透過 WordBank 與 Scoreboard 模組的緊密協作，本遊戲實現了從單字載入到分數存檔的完整循環。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496119" y="2139701"/>
            <a:ext cx="4004967" cy="1043659"/>
          </a:xfrm>
          <a:custGeom>
            <a:avLst/>
            <a:gdLst/>
            <a:ahLst/>
            <a:cxnLst/>
            <a:rect l="l" t="t" r="r" b="b"/>
            <a:pathLst>
              <a:path w="8009934" h="2087318">
                <a:moveTo>
                  <a:pt x="0" y="0"/>
                </a:moveTo>
                <a:lnTo>
                  <a:pt x="8009935" y="0"/>
                </a:lnTo>
                <a:lnTo>
                  <a:pt x="8009935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2" b="-19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37875" y="2271937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初始化階段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7875" y="2545109"/>
            <a:ext cx="3721446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遊戲開始時，</a:t>
            </a:r>
            <a:r>
              <a:rPr lang="en-US" sz="11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WordBank 模組</a:t>
            </a: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 會將所有單字載入記憶體，確保後續出題順暢。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4642842" y="2139701"/>
            <a:ext cx="4005039" cy="1043659"/>
          </a:xfrm>
          <a:custGeom>
            <a:avLst/>
            <a:gdLst/>
            <a:ahLst/>
            <a:cxnLst/>
            <a:rect l="l" t="t" r="r" b="b"/>
            <a:pathLst>
              <a:path w="8010077" h="2087318">
                <a:moveTo>
                  <a:pt x="0" y="0"/>
                </a:moveTo>
                <a:lnTo>
                  <a:pt x="8010078" y="0"/>
                </a:lnTo>
                <a:lnTo>
                  <a:pt x="8010078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3" b="-19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784603" y="2271937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遊戲進行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84603" y="2545109"/>
            <a:ext cx="3721523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從單字庫中隨機選取題目，並由 </a:t>
            </a:r>
            <a:r>
              <a:rPr lang="en-US" sz="11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Scoreboard 模組</a:t>
            </a: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 即時更新玩家的得分情況。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496119" y="3325121"/>
            <a:ext cx="4004967" cy="1043659"/>
          </a:xfrm>
          <a:custGeom>
            <a:avLst/>
            <a:gdLst/>
            <a:ahLst/>
            <a:cxnLst/>
            <a:rect l="l" t="t" r="r" b="b"/>
            <a:pathLst>
              <a:path w="8009934" h="2087318">
                <a:moveTo>
                  <a:pt x="0" y="0"/>
                </a:moveTo>
                <a:lnTo>
                  <a:pt x="8009935" y="0"/>
                </a:lnTo>
                <a:lnTo>
                  <a:pt x="8009935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2" b="-19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37875" y="3457351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結算階段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875" y="3730524"/>
            <a:ext cx="3721446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遊戲結束後，</a:t>
            </a:r>
            <a:r>
              <a:rPr lang="en-US" sz="1100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Scoreboard 模組</a:t>
            </a: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 會比較本次得分與歷史最高分，並在破紀錄時進行存檔。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4642842" y="3325121"/>
            <a:ext cx="4005039" cy="1043659"/>
          </a:xfrm>
          <a:custGeom>
            <a:avLst/>
            <a:gdLst/>
            <a:ahLst/>
            <a:cxnLst/>
            <a:rect l="l" t="t" r="r" b="b"/>
            <a:pathLst>
              <a:path w="8010077" h="2087318">
                <a:moveTo>
                  <a:pt x="0" y="0"/>
                </a:moveTo>
                <a:lnTo>
                  <a:pt x="8010078" y="0"/>
                </a:lnTo>
                <a:lnTo>
                  <a:pt x="8010078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3" b="-19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4784603" y="3457351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迴圈重複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84603" y="3730524"/>
            <a:ext cx="3721523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玩家選擇「再玩一次」後，遊戲將重新回到初始化階段，形成無縫的遊戲體驗。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0E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6119" y="774726"/>
            <a:ext cx="623440" cy="266400"/>
            <a:chOff x="0" y="0"/>
            <a:chExt cx="1662506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2430" cy="710438"/>
            </a:xfrm>
            <a:custGeom>
              <a:avLst/>
              <a:gdLst/>
              <a:ahLst/>
              <a:cxnLst/>
              <a:rect l="l" t="t" r="r" b="b"/>
              <a:pathLst>
                <a:path w="1662430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617091" y="0"/>
                  </a:lnTo>
                  <a:cubicBezTo>
                    <a:pt x="1642110" y="0"/>
                    <a:pt x="1662430" y="20320"/>
                    <a:pt x="1662430" y="45339"/>
                  </a:cubicBezTo>
                  <a:lnTo>
                    <a:pt x="1662430" y="665099"/>
                  </a:lnTo>
                  <a:cubicBezTo>
                    <a:pt x="1662430" y="690118"/>
                    <a:pt x="1642110" y="710438"/>
                    <a:pt x="1617091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6E6E5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1173" y="779117"/>
            <a:ext cx="910528" cy="16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7"/>
              </a:lnSpc>
            </a:pPr>
            <a:r>
              <a:rPr lang="en-US" sz="8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最佳實踐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119" y="1088308"/>
            <a:ext cx="4001319" cy="4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2"/>
              </a:lnSpc>
            </a:pPr>
            <a:r>
              <a:rPr lang="en-US" sz="2750">
                <a:solidFill>
                  <a:srgbClr val="1D1D1B"/>
                </a:solidFill>
                <a:latin typeface="Tomorrow"/>
                <a:ea typeface="Tomorrow"/>
                <a:cs typeface="Tomorrow"/>
                <a:sym typeface="Tomorrow"/>
              </a:rPr>
              <a:t>實作重點與最佳實踐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6119" y="1710557"/>
            <a:ext cx="8608962" cy="2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為了確保遊戲系統的穩定性、效能和使用者滿意度，我們整合了多項實作重點與最佳實踐。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496119" y="2139701"/>
            <a:ext cx="4004967" cy="1043659"/>
          </a:xfrm>
          <a:custGeom>
            <a:avLst/>
            <a:gdLst/>
            <a:ahLst/>
            <a:cxnLst/>
            <a:rect l="l" t="t" r="r" b="b"/>
            <a:pathLst>
              <a:path w="8009934" h="2087318">
                <a:moveTo>
                  <a:pt x="0" y="0"/>
                </a:moveTo>
                <a:lnTo>
                  <a:pt x="8009935" y="0"/>
                </a:lnTo>
                <a:lnTo>
                  <a:pt x="8009935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2" b="-19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37875" y="2271937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檔案管理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7875" y="2545109"/>
            <a:ext cx="3721446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確保讀寫檔案的路徑正確性，並加入錯誤處理機制，避免因檔案遺失或損壞導致程式崩潰。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4642842" y="2139701"/>
            <a:ext cx="4005039" cy="1043659"/>
          </a:xfrm>
          <a:custGeom>
            <a:avLst/>
            <a:gdLst/>
            <a:ahLst/>
            <a:cxnLst/>
            <a:rect l="l" t="t" r="r" b="b"/>
            <a:pathLst>
              <a:path w="8010077" h="2087318">
                <a:moveTo>
                  <a:pt x="0" y="0"/>
                </a:moveTo>
                <a:lnTo>
                  <a:pt x="8010078" y="0"/>
                </a:lnTo>
                <a:lnTo>
                  <a:pt x="8010078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3" b="-19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784603" y="2271937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記憶體優化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84603" y="2545109"/>
            <a:ext cx="3721523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針對單字庫這類固定大小的資料，可預先分配 vector 記憶體，並避免遊戲中重複讀檔，提升執行效率。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496119" y="3325121"/>
            <a:ext cx="4004967" cy="1043659"/>
          </a:xfrm>
          <a:custGeom>
            <a:avLst/>
            <a:gdLst/>
            <a:ahLst/>
            <a:cxnLst/>
            <a:rect l="l" t="t" r="r" b="b"/>
            <a:pathLst>
              <a:path w="8009934" h="2087318">
                <a:moveTo>
                  <a:pt x="0" y="0"/>
                </a:moveTo>
                <a:lnTo>
                  <a:pt x="8009935" y="0"/>
                </a:lnTo>
                <a:lnTo>
                  <a:pt x="8009935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2" b="-19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37875" y="3457351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使用者體驗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875" y="3730524"/>
            <a:ext cx="3721446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在遊戲載入或存檔時提供即時進度反饋，並以清晰的提示訊息引導玩家，增強操作流暢度。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4642842" y="3325121"/>
            <a:ext cx="4005039" cy="1043659"/>
          </a:xfrm>
          <a:custGeom>
            <a:avLst/>
            <a:gdLst/>
            <a:ahLst/>
            <a:cxnLst/>
            <a:rect l="l" t="t" r="r" b="b"/>
            <a:pathLst>
              <a:path w="8010077" h="2087318">
                <a:moveTo>
                  <a:pt x="0" y="0"/>
                </a:moveTo>
                <a:lnTo>
                  <a:pt x="8010078" y="0"/>
                </a:lnTo>
                <a:lnTo>
                  <a:pt x="8010078" y="2087318"/>
                </a:lnTo>
                <a:lnTo>
                  <a:pt x="0" y="208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3" b="-19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4784603" y="3457351"/>
            <a:ext cx="1772022" cy="2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5"/>
              </a:lnSpc>
            </a:pPr>
            <a:r>
              <a:rPr lang="en-US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資料安全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84603" y="3730524"/>
            <a:ext cx="3721523" cy="43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6"/>
              </a:lnSpc>
            </a:pPr>
            <a:r>
              <a:rPr lang="en-US" sz="11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對於分數等重要資料，應考慮加入檔案格式驗證與備份機制，防止作弊或資料遺失。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90EA-E851-C1EE-E966-9C874BEA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D0E40B-0E2C-D1F4-8317-057B2E97305C}"/>
              </a:ext>
            </a:extLst>
          </p:cNvPr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A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</a:t>
            </a:r>
            <a:endParaRPr lang="en-US" sz="2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4E2224-E737-6A9F-060C-3127B1915841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2C73F8-E055-42ED-2976-EB68D594619E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B687A9-DEC3-D26E-5ABB-BD3460AE9CC6}"/>
              </a:ext>
            </a:extLst>
          </p:cNvPr>
          <p:cNvSpPr/>
          <p:nvPr/>
        </p:nvSpPr>
        <p:spPr>
          <a:xfrm>
            <a:off x="365760" y="1325880"/>
            <a:ext cx="169164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8D6498-AEA8-6CCF-93EE-9DA8C832EE87}"/>
              </a:ext>
            </a:extLst>
          </p:cNvPr>
          <p:cNvSpPr/>
          <p:nvPr/>
        </p:nvSpPr>
        <p:spPr>
          <a:xfrm>
            <a:off x="800100" y="16733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7A8A"/>
                </a:solidFill>
              </a:rPr>
              <a:t>main.cpp</a:t>
            </a:r>
            <a:endParaRPr lang="en-US"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E7E4D7-E0CE-8C31-FC5C-E14EF74361D9}"/>
              </a:ext>
            </a:extLst>
          </p:cNvPr>
          <p:cNvSpPr/>
          <p:nvPr/>
        </p:nvSpPr>
        <p:spPr>
          <a:xfrm>
            <a:off x="685800" y="2108045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入口 / 難度選擇</a:t>
            </a:r>
            <a:endParaRPr lang="en-US"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BF6790-BAED-FAB5-985E-BFB71CCF35AF}"/>
              </a:ext>
            </a:extLst>
          </p:cNvPr>
          <p:cNvSpPr/>
          <p:nvPr/>
        </p:nvSpPr>
        <p:spPr>
          <a:xfrm>
            <a:off x="2743200" y="1325880"/>
            <a:ext cx="2011680" cy="1417320"/>
          </a:xfrm>
          <a:prstGeom prst="rect">
            <a:avLst/>
          </a:prstGeom>
          <a:solidFill>
            <a:srgbClr val="EDE8E0"/>
          </a:solidFill>
          <a:ln w="190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DDF237-EC0F-8B0A-9835-0B8956E82ABD}"/>
              </a:ext>
            </a:extLst>
          </p:cNvPr>
          <p:cNvSpPr/>
          <p:nvPr/>
        </p:nvSpPr>
        <p:spPr>
          <a:xfrm>
            <a:off x="3242603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A7FA0"/>
                </a:solidFill>
              </a:rPr>
              <a:t>GameManager</a:t>
            </a:r>
            <a:endParaRPr lang="en-US"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0EF237-F67D-E99D-3AA2-B53C3A0CE20C}"/>
              </a:ext>
            </a:extLst>
          </p:cNvPr>
          <p:cNvSpPr/>
          <p:nvPr/>
        </p:nvSpPr>
        <p:spPr>
          <a:xfrm>
            <a:off x="338328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遊戲主流程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A0FBE19-A5FD-E892-4786-B182F3595083}"/>
              </a:ext>
            </a:extLst>
          </p:cNvPr>
          <p:cNvSpPr/>
          <p:nvPr/>
        </p:nvSpPr>
        <p:spPr>
          <a:xfrm>
            <a:off x="5359791" y="1355774"/>
            <a:ext cx="1691640" cy="1417320"/>
          </a:xfrm>
          <a:prstGeom prst="rect">
            <a:avLst/>
          </a:prstGeom>
          <a:solidFill>
            <a:srgbClr val="EDE8E0"/>
          </a:solidFill>
          <a:ln w="1905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85F4AF-34A2-FA96-D0F9-26B4F3FA65EF}"/>
              </a:ext>
            </a:extLst>
          </p:cNvPr>
          <p:cNvSpPr/>
          <p:nvPr/>
        </p:nvSpPr>
        <p:spPr>
          <a:xfrm>
            <a:off x="6137031" y="167616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A7FA0"/>
                </a:solidFill>
              </a:rPr>
              <a:t>Pet</a:t>
            </a:r>
            <a:endParaRPr lang="en-US"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C0F568B-2D6D-A055-AE45-81709F32EFBE}"/>
              </a:ext>
            </a:extLst>
          </p:cNvPr>
          <p:cNvSpPr/>
          <p:nvPr/>
        </p:nvSpPr>
        <p:spPr>
          <a:xfrm>
            <a:off x="5920741" y="21031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寵物反應顯示</a:t>
            </a:r>
            <a:endParaRPr lang="en-US"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1FA8B81-A315-EB72-A2D1-1147E0B8C139}"/>
              </a:ext>
            </a:extLst>
          </p:cNvPr>
          <p:cNvSpPr/>
          <p:nvPr/>
        </p:nvSpPr>
        <p:spPr>
          <a:xfrm>
            <a:off x="365760" y="3017520"/>
            <a:ext cx="169164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9BA0EB-C28A-2533-A622-39349F930B6B}"/>
              </a:ext>
            </a:extLst>
          </p:cNvPr>
          <p:cNvSpPr/>
          <p:nvPr/>
        </p:nvSpPr>
        <p:spPr>
          <a:xfrm>
            <a:off x="800100" y="3364992"/>
            <a:ext cx="94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7A8A"/>
                </a:solidFill>
              </a:rPr>
              <a:t>WordBank</a:t>
            </a:r>
            <a:endParaRPr lang="en-US"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B9D3E19-0346-AABA-6ACF-E70A8AD7267C}"/>
              </a:ext>
            </a:extLst>
          </p:cNvPr>
          <p:cNvSpPr/>
          <p:nvPr/>
        </p:nvSpPr>
        <p:spPr>
          <a:xfrm>
            <a:off x="882748" y="3800387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單字載入</a:t>
            </a:r>
            <a:endParaRPr lang="en-US" sz="10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B1E39BE-4B39-C8E6-B008-BE2D554A84AF}"/>
              </a:ext>
            </a:extLst>
          </p:cNvPr>
          <p:cNvSpPr/>
          <p:nvPr/>
        </p:nvSpPr>
        <p:spPr>
          <a:xfrm>
            <a:off x="7498080" y="1325880"/>
            <a:ext cx="1417320" cy="14173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62923E-BF09-8946-945B-9E05FA15B929}"/>
              </a:ext>
            </a:extLst>
          </p:cNvPr>
          <p:cNvSpPr/>
          <p:nvPr/>
        </p:nvSpPr>
        <p:spPr>
          <a:xfrm>
            <a:off x="7818120" y="168038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A7A8A"/>
                </a:solidFill>
              </a:rPr>
              <a:t>ScoreBoard</a:t>
            </a:r>
            <a:endParaRPr lang="en-US" sz="13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1FF408-4B33-E70B-E1F7-6686F66148EA}"/>
              </a:ext>
            </a:extLst>
          </p:cNvPr>
          <p:cNvSpPr/>
          <p:nvPr/>
        </p:nvSpPr>
        <p:spPr>
          <a:xfrm>
            <a:off x="7955280" y="206443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紀錄讀寫</a:t>
            </a:r>
            <a:endParaRPr lang="en-US"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A9842E-C9A0-275A-7739-26C4456A2804}"/>
              </a:ext>
            </a:extLst>
          </p:cNvPr>
          <p:cNvSpPr/>
          <p:nvPr/>
        </p:nvSpPr>
        <p:spPr>
          <a:xfrm>
            <a:off x="2382715" y="1975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899AA"/>
                </a:solidFill>
              </a:rPr>
              <a:t>→</a:t>
            </a:r>
            <a:endParaRPr lang="en-US" sz="13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7E64B30-3072-8B09-9AE3-571B07904520}"/>
              </a:ext>
            </a:extLst>
          </p:cNvPr>
          <p:cNvSpPr/>
          <p:nvPr/>
        </p:nvSpPr>
        <p:spPr>
          <a:xfrm>
            <a:off x="5023925" y="1947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899AA"/>
                </a:solidFill>
              </a:rPr>
              <a:t>→</a:t>
            </a:r>
            <a:endParaRPr lang="en-US"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B45E7AC-2EC9-EF65-F47F-45CA89C87BE0}"/>
              </a:ext>
            </a:extLst>
          </p:cNvPr>
          <p:cNvSpPr/>
          <p:nvPr/>
        </p:nvSpPr>
        <p:spPr>
          <a:xfrm>
            <a:off x="7222003" y="1947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8CFC4"/>
                </a:solidFill>
              </a:rPr>
              <a:t>→</a:t>
            </a:r>
            <a:endParaRPr lang="en-US" sz="130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F1C3DA3-DCC0-84FD-93D6-D643B867B986}"/>
              </a:ext>
            </a:extLst>
          </p:cNvPr>
          <p:cNvSpPr/>
          <p:nvPr/>
        </p:nvSpPr>
        <p:spPr>
          <a:xfrm>
            <a:off x="362777" y="1330849"/>
            <a:ext cx="1683690" cy="142229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646003E0-902C-D856-F336-9F6269C14D17}"/>
              </a:ext>
            </a:extLst>
          </p:cNvPr>
          <p:cNvSpPr/>
          <p:nvPr/>
        </p:nvSpPr>
        <p:spPr>
          <a:xfrm>
            <a:off x="857211" y="16882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A7FA0"/>
                </a:solidFill>
              </a:rPr>
              <a:t>main.cpp</a:t>
            </a:r>
            <a:endParaRPr lang="zh-TW" altLang="en-US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D09156EF-43F5-79A8-2342-89B6A9FD34BD}"/>
              </a:ext>
            </a:extLst>
          </p:cNvPr>
          <p:cNvSpPr/>
          <p:nvPr/>
        </p:nvSpPr>
        <p:spPr>
          <a:xfrm>
            <a:off x="778565" y="208651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入口 / 難度選擇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085064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4F11-02EB-C1CD-984F-605268C6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A88C22A2-7E85-972E-F5AE-6DABC7084176}"/>
              </a:ext>
            </a:extLst>
          </p:cNvPr>
          <p:cNvSpPr/>
          <p:nvPr/>
        </p:nvSpPr>
        <p:spPr>
          <a:xfrm>
            <a:off x="504533" y="3374602"/>
            <a:ext cx="7722922" cy="723319"/>
          </a:xfrm>
          <a:prstGeom prst="roundRect">
            <a:avLst/>
          </a:prstGeom>
          <a:solidFill>
            <a:srgbClr val="EDE8E0"/>
          </a:solidFill>
          <a:ln>
            <a:solidFill>
              <a:srgbClr val="D8CF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2D7593F-C2FB-6A0E-8069-D9DFC1299D42}"/>
              </a:ext>
            </a:extLst>
          </p:cNvPr>
          <p:cNvSpPr/>
          <p:nvPr/>
        </p:nvSpPr>
        <p:spPr>
          <a:xfrm>
            <a:off x="504533" y="2334472"/>
            <a:ext cx="7722922" cy="723319"/>
          </a:xfrm>
          <a:prstGeom prst="roundRect">
            <a:avLst/>
          </a:prstGeom>
          <a:solidFill>
            <a:srgbClr val="EDE8E0"/>
          </a:solidFill>
          <a:ln>
            <a:solidFill>
              <a:srgbClr val="D8CF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4350FE6-A974-9A58-0547-9E15D8D8CDB4}"/>
              </a:ext>
            </a:extLst>
          </p:cNvPr>
          <p:cNvSpPr/>
          <p:nvPr/>
        </p:nvSpPr>
        <p:spPr>
          <a:xfrm>
            <a:off x="498819" y="1288628"/>
            <a:ext cx="7722922" cy="723319"/>
          </a:xfrm>
          <a:prstGeom prst="roundRect">
            <a:avLst/>
          </a:prstGeom>
          <a:solidFill>
            <a:srgbClr val="EDE8E0"/>
          </a:solidFill>
          <a:ln>
            <a:solidFill>
              <a:srgbClr val="D8CF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003B97C-83A6-D513-DF03-4762B300B6FF}"/>
              </a:ext>
            </a:extLst>
          </p:cNvPr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sz="2600" b="1">
                <a:solidFill>
                  <a:srgbClr val="3A4A5C"/>
                </a:solidFill>
                <a:ea typeface="+mn-lt"/>
                <a:cs typeface="+mn-lt"/>
              </a:rPr>
              <a:t>main.cpp 的</a:t>
            </a:r>
            <a:r>
              <a:rPr lang="zh-TW" altLang="en-US" sz="2600" b="1">
                <a:solidFill>
                  <a:srgbClr val="3A4A5C"/>
                </a:solidFill>
                <a:ea typeface="+mn-lt"/>
                <a:cs typeface="+mn-lt"/>
              </a:rPr>
              <a:t>角色定位</a:t>
            </a:r>
            <a:endParaRPr lang="en-US" altLang="zh-TW" sz="2600" b="1"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935E83-201C-8B2B-EFD6-DB8CF870C741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3E17B57-051A-727B-BF78-9C7773E29862}"/>
              </a:ext>
            </a:extLst>
          </p:cNvPr>
          <p:cNvSpPr txBox="1"/>
          <p:nvPr/>
        </p:nvSpPr>
        <p:spPr>
          <a:xfrm>
            <a:off x="502009" y="3413463"/>
            <a:ext cx="78121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b="1">
                <a:ea typeface="+mn-lt"/>
                <a:cs typeface="+mn-lt"/>
              </a:rPr>
              <a:t>遊戲狀態管理：</a:t>
            </a:r>
            <a:r>
              <a:rPr lang="zh-TW">
                <a:ea typeface="+mn-lt"/>
                <a:cs typeface="+mn-lt"/>
              </a:rPr>
              <a:t> 負責在遊戲迴圈外，精準追蹤玩家當前的「連勝紀錄」與「選擇的難度」。 </a:t>
            </a:r>
            <a:endParaRPr lang="zh-TW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82CC833-4F0B-B452-B1F1-897DE0541B95}"/>
              </a:ext>
            </a:extLst>
          </p:cNvPr>
          <p:cNvSpPr txBox="1"/>
          <p:nvPr/>
        </p:nvSpPr>
        <p:spPr>
          <a:xfrm>
            <a:off x="500626" y="1377893"/>
            <a:ext cx="75189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b="1">
                <a:ea typeface="+mn-lt"/>
                <a:cs typeface="+mn-lt"/>
              </a:rPr>
              <a:t>流程控制中心：</a:t>
            </a:r>
            <a:r>
              <a:rPr lang="zh-TW">
                <a:ea typeface="+mn-lt"/>
                <a:cs typeface="+mn-lt"/>
              </a:rPr>
              <a:t> 負責啟動遊戲、管理玩家輪次，並決定何時結束與離開程式。</a:t>
            </a:r>
            <a:endParaRPr lang="zh-TW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F957CF6-906F-ED2F-2C4C-C11B97866058}"/>
              </a:ext>
            </a:extLst>
          </p:cNvPr>
          <p:cNvSpPr txBox="1"/>
          <p:nvPr/>
        </p:nvSpPr>
        <p:spPr>
          <a:xfrm>
            <a:off x="501994" y="2331653"/>
            <a:ext cx="78121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b="1">
                <a:ea typeface="+mn-lt"/>
                <a:cs typeface="+mn-lt"/>
              </a:rPr>
              <a:t>模組溝通橋樑：</a:t>
            </a:r>
            <a:r>
              <a:rPr lang="zh-TW">
                <a:ea typeface="+mn-lt"/>
                <a:cs typeface="+mn-lt"/>
              </a:rPr>
              <a:t> 負責串接題庫 (</a:t>
            </a:r>
            <a:r>
              <a:rPr lang="zh-TW">
                <a:latin typeface="Consolas"/>
              </a:rPr>
              <a:t>WordBank</a:t>
            </a:r>
            <a:r>
              <a:rPr lang="zh-TW">
                <a:ea typeface="+mn-lt"/>
                <a:cs typeface="+mn-lt"/>
              </a:rPr>
              <a:t>)、遊戲核心邏輯 (</a:t>
            </a:r>
            <a:r>
              <a:rPr lang="zh-TW">
                <a:latin typeface="Consolas"/>
              </a:rPr>
              <a:t>GameManager</a:t>
            </a:r>
            <a:r>
              <a:rPr lang="zh-TW">
                <a:ea typeface="+mn-lt"/>
                <a:cs typeface="+mn-lt"/>
              </a:rPr>
              <a:t>) 與計分系統 (</a:t>
            </a:r>
            <a:r>
              <a:rPr lang="zh-TW">
                <a:latin typeface="Consolas"/>
              </a:rPr>
              <a:t>ScoreBoard</a:t>
            </a:r>
            <a:r>
              <a:rPr lang="zh-TW">
                <a:ea typeface="+mn-lt"/>
                <a:cs typeface="+mn-lt"/>
              </a:rPr>
              <a:t>)。</a:t>
            </a:r>
            <a:endParaRPr lang="zh-TW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AF4843-D3CA-C766-69B4-54A230AAF045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712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AA5C-F2D0-9F6D-229B-301AC9F1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44AFE6-C5B3-00C2-391C-B0414A15B3F0}"/>
              </a:ext>
            </a:extLst>
          </p:cNvPr>
          <p:cNvSpPr/>
          <p:nvPr/>
        </p:nvSpPr>
        <p:spPr>
          <a:xfrm>
            <a:off x="502920" y="429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600" b="1">
                <a:solidFill>
                  <a:srgbClr val="3A4A5C"/>
                </a:solidFill>
                <a:ea typeface="Calibri"/>
                <a:cs typeface="Calibri"/>
              </a:rPr>
              <a:t>環境初始化與主迴圈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C329F1-3DE7-CE58-7AF4-E8496050E286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872C13-DCF7-CCE6-EDF1-C43C05BEE5FC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AD03F7-A48D-BFB5-D50D-0A38E70F032F}"/>
              </a:ext>
            </a:extLst>
          </p:cNvPr>
          <p:cNvSpPr txBox="1"/>
          <p:nvPr/>
        </p:nvSpPr>
        <p:spPr>
          <a:xfrm>
            <a:off x="503225" y="1572203"/>
            <a:ext cx="4440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err="1">
                <a:ea typeface="+mn-lt"/>
                <a:cs typeface="+mn-lt"/>
              </a:rPr>
              <a:t>亂數初始化</a:t>
            </a:r>
            <a:r>
              <a:rPr lang="en-US" sz="2000" b="1">
                <a:ea typeface="+mn-lt"/>
                <a:cs typeface="+mn-lt"/>
              </a:rPr>
              <a:t>：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確保每次遊戲抽題、挖空位置都具備真正的隨機性</a:t>
            </a:r>
            <a:r>
              <a:rPr lang="en-US" sz="2000">
                <a:ea typeface="+mn-lt"/>
                <a:cs typeface="+mn-lt"/>
              </a:rPr>
              <a:t>。</a:t>
            </a:r>
            <a:endParaRPr lang="zh-TW" altLang="en-US" sz="2000">
              <a:ea typeface="新細明體"/>
              <a:cs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B30913-BD2A-FCB0-4C0E-738AEA905B69}"/>
              </a:ext>
            </a:extLst>
          </p:cNvPr>
          <p:cNvSpPr txBox="1"/>
          <p:nvPr/>
        </p:nvSpPr>
        <p:spPr>
          <a:xfrm>
            <a:off x="502920" y="2571750"/>
            <a:ext cx="4572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 sz="2000" b="1">
                <a:solidFill>
                  <a:srgbClr val="000000"/>
                </a:solidFill>
                <a:ea typeface="+mn-lt"/>
                <a:cs typeface="+mn-lt"/>
              </a:rPr>
              <a:t>載入歷史紀錄：</a:t>
            </a:r>
            <a:r>
              <a:rPr lang="zh-TW" altLang="en-US" sz="2000">
                <a:solidFill>
                  <a:srgbClr val="000000"/>
                </a:solidFill>
                <a:ea typeface="+mn-lt"/>
                <a:cs typeface="+mn-lt"/>
              </a:rPr>
              <a:t> 宣告 </a:t>
            </a:r>
            <a:r>
              <a:rPr lang="en-US" altLang="zh-TW" sz="2000" err="1">
                <a:solidFill>
                  <a:srgbClr val="000000"/>
                </a:solidFill>
                <a:latin typeface="Consolas"/>
                <a:ea typeface="PMingLiU"/>
              </a:rPr>
              <a:t>ScoreBoard</a:t>
            </a:r>
            <a:r>
              <a:rPr lang="zh-TW" altLang="en-US" sz="2000">
                <a:solidFill>
                  <a:srgbClr val="000000"/>
                </a:solidFill>
                <a:ea typeface="+mn-lt"/>
                <a:cs typeface="+mn-lt"/>
              </a:rPr>
              <a:t> 物件，</a:t>
            </a:r>
            <a:r>
              <a:rPr lang="zh-TW" sz="2000">
                <a:solidFill>
                  <a:srgbClr val="000000"/>
                </a:solidFill>
                <a:ea typeface="+mn-lt"/>
                <a:cs typeface="+mn-lt"/>
              </a:rPr>
              <a:t>遊戲一開啟即自動讀取本機舊檔案。</a:t>
            </a:r>
            <a:endParaRPr lang="zh-TW" sz="2000">
              <a:ea typeface="新細明體"/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DCC79B-0276-8D5F-C467-72D2570A2FAB}"/>
              </a:ext>
            </a:extLst>
          </p:cNvPr>
          <p:cNvSpPr txBox="1"/>
          <p:nvPr/>
        </p:nvSpPr>
        <p:spPr>
          <a:xfrm>
            <a:off x="503359" y="3573010"/>
            <a:ext cx="76695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endParaRPr lang="zh-TW"/>
          </a:p>
          <a:p>
            <a:pPr marL="285750" indent="-285750">
              <a:buFont typeface="Arial"/>
              <a:buChar char="•"/>
            </a:pPr>
            <a:r>
              <a:rPr lang="zh-TW" b="1">
                <a:ea typeface="+mn-lt"/>
                <a:cs typeface="+mn-lt"/>
              </a:rPr>
              <a:t>重複遊玩機制：</a:t>
            </a:r>
            <a:r>
              <a:rPr lang="zh-TW">
                <a:ea typeface="+mn-lt"/>
                <a:cs typeface="+mn-lt"/>
              </a:rPr>
              <a:t> 使用 </a:t>
            </a:r>
            <a:r>
              <a:rPr lang="zh-TW">
                <a:latin typeface="Consolas"/>
              </a:rPr>
              <a:t>do...while</a:t>
            </a:r>
            <a:r>
              <a:rPr lang="zh-TW">
                <a:ea typeface="+mn-lt"/>
                <a:cs typeface="+mn-lt"/>
              </a:rPr>
              <a:t> 迴圈包裹主流程，由玩家自由決定是否繼續下一局，無須重新啟動程式。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914F687-245F-6608-11CD-03E2F1687E8D}"/>
              </a:ext>
            </a:extLst>
          </p:cNvPr>
          <p:cNvSpPr txBox="1"/>
          <p:nvPr/>
        </p:nvSpPr>
        <p:spPr>
          <a:xfrm>
            <a:off x="4081784" y="8317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zh-TW" altLang="en-US">
              <a:ea typeface="新細明體"/>
              <a:cs typeface="Calibri"/>
            </a:endParaRPr>
          </a:p>
        </p:txBody>
      </p:sp>
      <p:pic>
        <p:nvPicPr>
          <p:cNvPr id="15" name="圖片 14" descr="一張含有 文字, 螢幕擷取畫面, 陳列, 字型 的圖片&#10;&#10;AI 產生的內容可能不正確。">
            <a:extLst>
              <a:ext uri="{FF2B5EF4-FFF2-40B4-BE49-F238E27FC236}">
                <a16:creationId xmlns:a16="http://schemas.microsoft.com/office/drawing/2014/main" id="{E4E1315A-AEFE-65FB-C143-5458726B0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554" y="830461"/>
            <a:ext cx="4566249" cy="27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30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FAB4-F012-F2BF-B7A9-AFF5A0B9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3DD703-80E2-B68E-D016-1AEF0C051924}"/>
              </a:ext>
            </a:extLst>
          </p:cNvPr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600" b="1">
                <a:solidFill>
                  <a:srgbClr val="3A4A5C"/>
                </a:solidFill>
                <a:ea typeface="Calibri"/>
                <a:cs typeface="Calibri"/>
              </a:rPr>
              <a:t>難度控制與防呆機制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07617B-2009-29BF-49D2-64DFD1E7416F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02FF11-4E99-00D5-0289-7B185410E264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7E286BF-6F3E-2F8E-E601-E0B445540B9D}"/>
              </a:ext>
            </a:extLst>
          </p:cNvPr>
          <p:cNvSpPr txBox="1"/>
          <p:nvPr/>
        </p:nvSpPr>
        <p:spPr>
          <a:xfrm>
            <a:off x="500626" y="1377893"/>
            <a:ext cx="75189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 b="1">
                <a:ea typeface="+mn-lt"/>
                <a:cs typeface="+mn-lt"/>
              </a:rPr>
              <a:t>非法輸入過濾：</a:t>
            </a:r>
            <a:r>
              <a:rPr lang="zh-TW" altLang="en-US">
                <a:ea typeface="+mn-lt"/>
                <a:cs typeface="+mn-lt"/>
              </a:rPr>
              <a:t> 限</a:t>
            </a:r>
            <a:r>
              <a:rPr lang="zh-TW">
                <a:ea typeface="+mn-lt"/>
                <a:cs typeface="+mn-lt"/>
              </a:rPr>
              <a:t>制</a:t>
            </a:r>
            <a:r>
              <a:rPr lang="zh-TW" altLang="en-US">
                <a:ea typeface="+mn-lt"/>
                <a:cs typeface="+mn-lt"/>
              </a:rPr>
              <a:t>難度輸入必須在 </a:t>
            </a:r>
            <a:r>
              <a:rPr lang="en-US" altLang="zh-TW">
                <a:ea typeface="+mn-lt"/>
                <a:cs typeface="+mn-lt"/>
              </a:rPr>
              <a:t>1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>
                <a:ea typeface="+mn-lt"/>
                <a:cs typeface="+mn-lt"/>
              </a:rPr>
              <a:t>(</a:t>
            </a:r>
            <a:r>
              <a:rPr lang="zh-TW" altLang="en-US">
                <a:ea typeface="+mn-lt"/>
                <a:cs typeface="+mn-lt"/>
              </a:rPr>
              <a:t>簡單</a:t>
            </a:r>
            <a:r>
              <a:rPr lang="en-US" altLang="zh-TW">
                <a:ea typeface="+mn-lt"/>
                <a:cs typeface="+mn-lt"/>
              </a:rPr>
              <a:t>)</a:t>
            </a:r>
            <a:r>
              <a:rPr lang="zh-TW" altLang="en-US">
                <a:ea typeface="+mn-lt"/>
                <a:cs typeface="+mn-lt"/>
              </a:rPr>
              <a:t>、</a:t>
            </a:r>
            <a:r>
              <a:rPr lang="en-US" altLang="zh-TW">
                <a:ea typeface="+mn-lt"/>
                <a:cs typeface="+mn-lt"/>
              </a:rPr>
              <a:t>2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>
                <a:ea typeface="+mn-lt"/>
                <a:cs typeface="+mn-lt"/>
              </a:rPr>
              <a:t>(</a:t>
            </a:r>
            <a:r>
              <a:rPr lang="zh-TW">
                <a:ea typeface="+mn-lt"/>
                <a:cs typeface="+mn-lt"/>
              </a:rPr>
              <a:t>中</a:t>
            </a:r>
            <a:r>
              <a:rPr lang="zh-TW" altLang="en-US">
                <a:ea typeface="+mn-lt"/>
                <a:cs typeface="+mn-lt"/>
              </a:rPr>
              <a:t>等</a:t>
            </a:r>
            <a:r>
              <a:rPr lang="en-US" altLang="zh-TW">
                <a:ea typeface="+mn-lt"/>
                <a:cs typeface="+mn-lt"/>
              </a:rPr>
              <a:t>)</a:t>
            </a:r>
            <a:r>
              <a:rPr lang="zh-TW">
                <a:ea typeface="+mn-lt"/>
                <a:cs typeface="+mn-lt"/>
              </a:rPr>
              <a:t>、</a:t>
            </a:r>
            <a:r>
              <a:rPr lang="en-US" altLang="zh-TW">
                <a:ea typeface="+mn-lt"/>
                <a:cs typeface="+mn-lt"/>
              </a:rPr>
              <a:t>3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>
                <a:ea typeface="+mn-lt"/>
                <a:cs typeface="+mn-lt"/>
              </a:rPr>
              <a:t>(</a:t>
            </a:r>
            <a:r>
              <a:rPr lang="zh-TW" altLang="en-US">
                <a:ea typeface="+mn-lt"/>
                <a:cs typeface="+mn-lt"/>
              </a:rPr>
              <a:t>困難</a:t>
            </a:r>
            <a:r>
              <a:rPr lang="en-US" altLang="zh-TW">
                <a:ea typeface="+mn-lt"/>
                <a:cs typeface="+mn-lt"/>
              </a:rPr>
              <a:t>)</a:t>
            </a:r>
            <a:r>
              <a:rPr lang="zh-TW" altLang="en-US">
                <a:ea typeface="+mn-lt"/>
                <a:cs typeface="+mn-lt"/>
              </a:rPr>
              <a:t> 之間</a:t>
            </a:r>
            <a:r>
              <a:rPr lang="zh-TW">
                <a:ea typeface="+mn-lt"/>
                <a:cs typeface="+mn-lt"/>
              </a:rPr>
              <a:t>。</a:t>
            </a:r>
            <a:endParaRPr lang="zh-TW" altLang="en-US">
              <a:ea typeface="+mn-lt"/>
              <a:cs typeface="+mn-lt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CC23A56-57A5-AA21-DE41-7E534A628CDF}"/>
              </a:ext>
            </a:extLst>
          </p:cNvPr>
          <p:cNvSpPr txBox="1"/>
          <p:nvPr/>
        </p:nvSpPr>
        <p:spPr>
          <a:xfrm>
            <a:off x="501994" y="1983038"/>
            <a:ext cx="781215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zh-TW" alt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zh-TW" altLang="en-US" b="1">
                <a:ea typeface="+mn-lt"/>
                <a:cs typeface="+mn-lt"/>
              </a:rPr>
              <a:t>連勝公平性 </a:t>
            </a:r>
            <a:r>
              <a:rPr lang="zh-TW" b="1">
                <a:ea typeface="+mn-lt"/>
                <a:cs typeface="+mn-lt"/>
              </a:rPr>
              <a:t>(</a:t>
            </a:r>
            <a:r>
              <a:rPr lang="zh-TW" altLang="en-US" b="1">
                <a:ea typeface="+mn-lt"/>
                <a:cs typeface="+mn-lt"/>
              </a:rPr>
              <a:t>防作弊</a:t>
            </a:r>
            <a:r>
              <a:rPr lang="zh-TW" b="1">
                <a:ea typeface="+mn-lt"/>
                <a:cs typeface="+mn-lt"/>
              </a:rPr>
              <a:t>)</a:t>
            </a:r>
            <a:r>
              <a:rPr lang="zh-TW" altLang="en-US" b="1">
                <a:ea typeface="+mn-lt"/>
                <a:cs typeface="+mn-lt"/>
              </a:rPr>
              <a:t>：</a:t>
            </a:r>
            <a:r>
              <a:rPr lang="zh-TW">
                <a:ea typeface="+mn-lt"/>
                <a:cs typeface="+mn-lt"/>
              </a:rPr>
              <a:t> 系統</a:t>
            </a:r>
            <a:r>
              <a:rPr lang="zh-TW" altLang="en-US">
                <a:ea typeface="+mn-lt"/>
                <a:cs typeface="+mn-lt"/>
              </a:rPr>
              <a:t>會記錄玩家前一局的難度。若偵測到玩家「跨難度遊玩」</a:t>
            </a:r>
            <a:r>
              <a:rPr lang="zh-TW">
                <a:ea typeface="+mn-lt"/>
                <a:cs typeface="+mn-lt"/>
              </a:rPr>
              <a:t>(</a:t>
            </a:r>
            <a:r>
              <a:rPr lang="zh-TW" altLang="en-US">
                <a:ea typeface="+mn-lt"/>
                <a:cs typeface="+mn-lt"/>
              </a:rPr>
              <a:t>例如從簡單切換到困難</a:t>
            </a:r>
            <a:r>
              <a:rPr lang="zh-TW">
                <a:ea typeface="+mn-lt"/>
                <a:cs typeface="+mn-lt"/>
              </a:rPr>
              <a:t>)</a:t>
            </a:r>
            <a:r>
              <a:rPr lang="zh-TW" altLang="en-US">
                <a:ea typeface="+mn-lt"/>
                <a:cs typeface="+mn-lt"/>
              </a:rPr>
              <a:t>，為了排行榜的公平性，會強制將連勝紀錄歸零</a:t>
            </a:r>
            <a:r>
              <a:rPr lang="zh-TW">
                <a:ea typeface="+mn-lt"/>
                <a:cs typeface="+mn-lt"/>
              </a:rPr>
              <a:t>。</a:t>
            </a:r>
            <a:endParaRPr lang="zh-TW" altLang="en-US">
              <a:ea typeface="+mn-lt"/>
              <a:cs typeface="+mn-lt"/>
            </a:endParaRPr>
          </a:p>
        </p:txBody>
      </p:sp>
      <p:pic>
        <p:nvPicPr>
          <p:cNvPr id="8" name="圖片 7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03DD8533-94CA-23B8-AB9B-6C370569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97" y="2445531"/>
            <a:ext cx="6268641" cy="313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59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D1CF-9617-2941-0802-20522A91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B2DDD8-2872-C5F4-1121-C25A407DF649}"/>
              </a:ext>
            </a:extLst>
          </p:cNvPr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600" b="1">
                <a:solidFill>
                  <a:srgbClr val="3A4A5C"/>
                </a:solidFill>
                <a:ea typeface="Calibri"/>
                <a:cs typeface="Calibri"/>
              </a:rPr>
              <a:t>物件協同作業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0C0C2B-9153-6E0B-3E15-D7DFD1694232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D7953C-FEB6-B006-4441-3CD4AAA1315B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0D2BC2D-378A-B60B-78C5-33C975334144}"/>
              </a:ext>
            </a:extLst>
          </p:cNvPr>
          <p:cNvCxnSpPr/>
          <p:nvPr/>
        </p:nvCxnSpPr>
        <p:spPr>
          <a:xfrm>
            <a:off x="140121" y="3201380"/>
            <a:ext cx="9006636" cy="2285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>
            <a:extLst>
              <a:ext uri="{FF2B5EF4-FFF2-40B4-BE49-F238E27FC236}">
                <a16:creationId xmlns:a16="http://schemas.microsoft.com/office/drawing/2014/main" id="{D4C775A6-87FD-7D79-682C-2C594B583D4D}"/>
              </a:ext>
            </a:extLst>
          </p:cNvPr>
          <p:cNvSpPr/>
          <p:nvPr/>
        </p:nvSpPr>
        <p:spPr>
          <a:xfrm>
            <a:off x="1172008" y="3132735"/>
            <a:ext cx="154353" cy="12862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1610D18-ECBF-91FE-0883-0EF9CBC41D52}"/>
              </a:ext>
            </a:extLst>
          </p:cNvPr>
          <p:cNvSpPr/>
          <p:nvPr/>
        </p:nvSpPr>
        <p:spPr>
          <a:xfrm>
            <a:off x="3166543" y="3121304"/>
            <a:ext cx="154353" cy="12862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4350721-072F-1327-658F-761EE88593DD}"/>
              </a:ext>
            </a:extLst>
          </p:cNvPr>
          <p:cNvSpPr/>
          <p:nvPr/>
        </p:nvSpPr>
        <p:spPr>
          <a:xfrm>
            <a:off x="6029758" y="3149879"/>
            <a:ext cx="154353" cy="12862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B0661F-E80F-5FB0-ED53-38416B3589A6}"/>
              </a:ext>
            </a:extLst>
          </p:cNvPr>
          <p:cNvSpPr txBox="1"/>
          <p:nvPr/>
        </p:nvSpPr>
        <p:spPr>
          <a:xfrm>
            <a:off x="275080" y="3330131"/>
            <a:ext cx="33089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ea typeface="新細明體"/>
              </a:rPr>
              <a:t>Step 1:產出題目</a:t>
            </a:r>
            <a:endParaRPr lang="en-US" altLang="zh-TW" sz="2400" b="1">
              <a:ea typeface="新細明體"/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060EC9E-E817-5FA7-CCA0-DF6FFE5A0920}"/>
              </a:ext>
            </a:extLst>
          </p:cNvPr>
          <p:cNvSpPr txBox="1"/>
          <p:nvPr/>
        </p:nvSpPr>
        <p:spPr>
          <a:xfrm>
            <a:off x="137920" y="3784626"/>
            <a:ext cx="34632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>
                <a:ea typeface="+mn-lt"/>
                <a:cs typeface="+mn-lt"/>
              </a:rPr>
              <a:t>呼叫 WordBank 並傳入玩家選擇的難度，生成對應題目。</a:t>
            </a:r>
            <a:endParaRPr lang="zh-TW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20B9FC9-C51F-9050-4417-5304B017A14F}"/>
              </a:ext>
            </a:extLst>
          </p:cNvPr>
          <p:cNvSpPr txBox="1"/>
          <p:nvPr/>
        </p:nvSpPr>
        <p:spPr>
          <a:xfrm>
            <a:off x="1795677" y="1937883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 b="1">
                <a:ea typeface="新細明體"/>
                <a:cs typeface="Calibri"/>
              </a:rPr>
              <a:t>Step 2 :提取資料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831FFEC-7BBE-5C02-FE24-4E4C34EE00BB}"/>
              </a:ext>
            </a:extLst>
          </p:cNvPr>
          <p:cNvSpPr txBox="1"/>
          <p:nvPr/>
        </p:nvSpPr>
        <p:spPr>
          <a:xfrm>
            <a:off x="1515573" y="2400932"/>
            <a:ext cx="34518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>
                <a:ea typeface="+mn-lt"/>
                <a:cs typeface="+mn-lt"/>
              </a:rPr>
              <a:t>從題庫提取解答 (ans)、挖空單字 (masked) 與中文提示 (chi)。</a:t>
            </a:r>
            <a:endParaRPr lang="zh-TW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6D6C0BF-EC49-8407-FC33-3F2E13E7C9D8}"/>
              </a:ext>
            </a:extLst>
          </p:cNvPr>
          <p:cNvSpPr txBox="1"/>
          <p:nvPr/>
        </p:nvSpPr>
        <p:spPr>
          <a:xfrm>
            <a:off x="4962714" y="3470060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 b="1">
                <a:ea typeface="新細明體"/>
                <a:cs typeface="Calibri"/>
              </a:rPr>
              <a:t>Step 3:啟動遊戲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2D3255B-AFE0-A83B-FF0A-63BE733D2600}"/>
              </a:ext>
            </a:extLst>
          </p:cNvPr>
          <p:cNvSpPr txBox="1"/>
          <p:nvPr/>
        </p:nvSpPr>
        <p:spPr>
          <a:xfrm>
            <a:off x="4642556" y="3933130"/>
            <a:ext cx="32804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>
                <a:ea typeface="+mn-lt"/>
                <a:cs typeface="+mn-lt"/>
              </a:rPr>
              <a:t>將資料交給 GameManager 實體化，呼叫 startGame()。</a:t>
            </a:r>
            <a:endParaRPr lang="zh-TW"/>
          </a:p>
        </p:txBody>
      </p:sp>
      <p:pic>
        <p:nvPicPr>
          <p:cNvPr id="20" name="圖片 19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6F71C36-8A49-0559-965B-9E9D79C8F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210" y="294679"/>
            <a:ext cx="4698293" cy="31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91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16830-FE01-192C-A50D-3774E58E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04D9C-FDEC-7BC9-A7ED-BEEDD6BED802}"/>
              </a:ext>
            </a:extLst>
          </p:cNvPr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600" b="1">
                <a:solidFill>
                  <a:srgbClr val="3A4A5C"/>
                </a:solidFill>
                <a:ea typeface="Calibri"/>
                <a:cs typeface="Calibri"/>
              </a:rPr>
              <a:t>戰績結算與永久存檔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52D8CF-2FA8-0796-A0C6-4348FE27B1D2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AC216F-9480-650F-C6DB-B99E9C45024C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A84262D-E2D7-CE40-C6D6-7A9A9FE176CA}"/>
              </a:ext>
            </a:extLst>
          </p:cNvPr>
          <p:cNvSpPr txBox="1"/>
          <p:nvPr/>
        </p:nvSpPr>
        <p:spPr>
          <a:xfrm>
            <a:off x="500626" y="1377893"/>
            <a:ext cx="75189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 b="1">
                <a:ea typeface="+mn-lt"/>
                <a:cs typeface="+mn-lt"/>
              </a:rPr>
              <a:t>即時結算</a:t>
            </a:r>
            <a:r>
              <a:rPr lang="zh-TW" b="1">
                <a:ea typeface="+mn-lt"/>
                <a:cs typeface="+mn-lt"/>
              </a:rPr>
              <a:t>：</a:t>
            </a:r>
            <a:r>
              <a:rPr lang="zh-TW">
                <a:ea typeface="+mn-lt"/>
                <a:cs typeface="+mn-lt"/>
              </a:rPr>
              <a:t> </a:t>
            </a:r>
            <a:r>
              <a:rPr lang="zh-TW" altLang="en-US">
                <a:ea typeface="+mn-lt"/>
                <a:cs typeface="+mn-lt"/>
              </a:rPr>
              <a:t>透過 </a:t>
            </a:r>
            <a:r>
              <a:rPr lang="en-US" altLang="zh-TW" err="1">
                <a:latin typeface="Consolas"/>
                <a:ea typeface="+mn-lt"/>
                <a:cs typeface="+mn-lt"/>
              </a:rPr>
              <a:t>game.isWon</a:t>
            </a:r>
            <a:r>
              <a:rPr lang="en-US" altLang="zh-TW">
                <a:latin typeface="Consolas"/>
                <a:ea typeface="+mn-lt"/>
                <a:cs typeface="+mn-lt"/>
              </a:rPr>
              <a:t>()</a:t>
            </a:r>
            <a:r>
              <a:rPr lang="zh-TW" altLang="en-US">
                <a:ea typeface="+mn-lt"/>
                <a:cs typeface="+mn-lt"/>
              </a:rPr>
              <a:t> 取得該局勝</a:t>
            </a:r>
            <a:r>
              <a:rPr lang="zh-TW">
                <a:ea typeface="+mn-lt"/>
                <a:cs typeface="+mn-lt"/>
              </a:rPr>
              <a:t>負結</a:t>
            </a:r>
            <a:r>
              <a:rPr lang="zh-TW" altLang="en-US">
                <a:ea typeface="+mn-lt"/>
                <a:cs typeface="+mn-lt"/>
              </a:rPr>
              <a:t>果。獲勝則連勝加 </a:t>
            </a:r>
            <a:r>
              <a:rPr lang="en-US" altLang="zh-TW">
                <a:ea typeface="+mn-lt"/>
                <a:cs typeface="+mn-lt"/>
              </a:rPr>
              <a:t>1</a:t>
            </a:r>
            <a:r>
              <a:rPr lang="zh-TW" altLang="en-US">
                <a:ea typeface="+mn-lt"/>
                <a:cs typeface="+mn-lt"/>
              </a:rPr>
              <a:t>，失敗則重置為 </a:t>
            </a:r>
            <a:r>
              <a:rPr lang="en-US" altLang="zh-TW">
                <a:ea typeface="+mn-lt"/>
                <a:cs typeface="+mn-lt"/>
              </a:rPr>
              <a:t>0</a:t>
            </a:r>
            <a:r>
              <a:rPr lang="zh-TW">
                <a:ea typeface="+mn-lt"/>
                <a:cs typeface="+mn-lt"/>
              </a:rPr>
              <a:t>。</a:t>
            </a:r>
            <a:endParaRPr lang="zh-TW" altLang="en-US">
              <a:ea typeface="+mn-lt"/>
              <a:cs typeface="+mn-lt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8AD5505-0982-5F9D-925F-6654CE520802}"/>
              </a:ext>
            </a:extLst>
          </p:cNvPr>
          <p:cNvSpPr txBox="1"/>
          <p:nvPr/>
        </p:nvSpPr>
        <p:spPr>
          <a:xfrm>
            <a:off x="501994" y="2251643"/>
            <a:ext cx="78121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 b="1">
                <a:ea typeface="+mn-lt"/>
                <a:cs typeface="+mn-lt"/>
              </a:rPr>
              <a:t>破紀錄回饋</a:t>
            </a:r>
            <a:r>
              <a:rPr lang="zh-TW" b="1">
                <a:ea typeface="+mn-lt"/>
                <a:cs typeface="+mn-lt"/>
              </a:rPr>
              <a:t>：</a:t>
            </a:r>
            <a:r>
              <a:rPr lang="zh-TW">
                <a:ea typeface="+mn-lt"/>
                <a:cs typeface="+mn-lt"/>
              </a:rPr>
              <a:t> </a:t>
            </a:r>
            <a:r>
              <a:rPr lang="zh-TW" altLang="en-US">
                <a:ea typeface="+mn-lt"/>
                <a:cs typeface="+mn-lt"/>
              </a:rPr>
              <a:t>若當前連勝大於該難度的歷史最高紀錄，會印出特殊的星星祝賀特效。</a:t>
            </a:r>
            <a:endParaRPr lang="zh-TW">
              <a:ea typeface="+mn-lt"/>
              <a:cs typeface="+mn-lt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87B51B0-8CD3-2F2A-BBB6-C09D69BA8882}"/>
              </a:ext>
            </a:extLst>
          </p:cNvPr>
          <p:cNvSpPr txBox="1"/>
          <p:nvPr/>
        </p:nvSpPr>
        <p:spPr>
          <a:xfrm>
            <a:off x="502009" y="2899113"/>
            <a:ext cx="376700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zh-TW" altLang="en-U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zh-TW" altLang="en-US" b="1">
                <a:ea typeface="+mn-lt"/>
                <a:cs typeface="+mn-lt"/>
              </a:rPr>
              <a:t>資料持久化</a:t>
            </a:r>
            <a:r>
              <a:rPr lang="zh-TW" b="1">
                <a:ea typeface="+mn-lt"/>
                <a:cs typeface="+mn-lt"/>
              </a:rPr>
              <a:t>：</a:t>
            </a:r>
            <a:r>
              <a:rPr lang="zh-TW">
                <a:ea typeface="+mn-lt"/>
                <a:cs typeface="+mn-lt"/>
              </a:rPr>
              <a:t> </a:t>
            </a:r>
            <a:r>
              <a:rPr lang="zh-TW" altLang="en-US">
                <a:ea typeface="+mn-lt"/>
                <a:cs typeface="+mn-lt"/>
              </a:rPr>
              <a:t>呼叫 </a:t>
            </a:r>
            <a:r>
              <a:rPr lang="en-US" altLang="zh-TW" err="1">
                <a:latin typeface="Consolas"/>
                <a:ea typeface="+mn-lt"/>
                <a:cs typeface="+mn-lt"/>
              </a:rPr>
              <a:t>recordResult</a:t>
            </a:r>
            <a:r>
              <a:rPr lang="zh-TW" altLang="en-US">
                <a:ea typeface="+mn-lt"/>
                <a:cs typeface="+mn-lt"/>
              </a:rPr>
              <a:t> 即時將戰績寫入 </a:t>
            </a:r>
            <a:r>
              <a:rPr lang="en-US" altLang="zh-TW">
                <a:latin typeface="Consolas"/>
                <a:ea typeface="+mn-lt"/>
                <a:cs typeface="+mn-lt"/>
              </a:rPr>
              <a:t>record.txt</a:t>
            </a:r>
            <a:r>
              <a:rPr lang="zh-TW" altLang="en-US">
                <a:ea typeface="+mn-lt"/>
                <a:cs typeface="+mn-lt"/>
              </a:rPr>
              <a:t> 檔案中</a:t>
            </a:r>
            <a:r>
              <a:rPr lang="zh-TW">
                <a:ea typeface="+mn-lt"/>
                <a:cs typeface="+mn-lt"/>
              </a:rPr>
              <a:t>，</a:t>
            </a:r>
            <a:r>
              <a:rPr lang="zh-TW" altLang="en-US">
                <a:ea typeface="+mn-lt"/>
                <a:cs typeface="+mn-lt"/>
              </a:rPr>
              <a:t>確保</a:t>
            </a:r>
            <a:r>
              <a:rPr lang="zh-TW">
                <a:ea typeface="+mn-lt"/>
                <a:cs typeface="+mn-lt"/>
              </a:rPr>
              <a:t>玩家</a:t>
            </a:r>
            <a:r>
              <a:rPr lang="zh-TW" altLang="en-US">
                <a:ea typeface="+mn-lt"/>
                <a:cs typeface="+mn-lt"/>
              </a:rPr>
              <a:t>心血被完整保存</a:t>
            </a:r>
            <a:r>
              <a:rPr lang="zh-TW">
                <a:ea typeface="+mn-lt"/>
                <a:cs typeface="+mn-lt"/>
              </a:rPr>
              <a:t>。</a:t>
            </a:r>
            <a:endParaRPr lang="zh-TW" altLang="en-US">
              <a:ea typeface="+mn-lt"/>
              <a:cs typeface="+mn-lt"/>
            </a:endParaRPr>
          </a:p>
        </p:txBody>
      </p:sp>
      <p:pic>
        <p:nvPicPr>
          <p:cNvPr id="7" name="圖片 6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FD2EBB01-C6BE-EE0B-D9F9-A7482B0A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486" y="2250281"/>
            <a:ext cx="5165216" cy="325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90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9924-D8DC-F086-E9A6-E4E9F6F2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F483F0-FC59-46B4-004A-EA606A96E83E}"/>
              </a:ext>
            </a:extLst>
          </p:cNvPr>
          <p:cNvSpPr/>
          <p:nvPr/>
        </p:nvSpPr>
        <p:spPr>
          <a:xfrm>
            <a:off x="50292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600" b="1">
                <a:solidFill>
                  <a:srgbClr val="3A4A5C"/>
                </a:solidFill>
                <a:ea typeface="Calibri"/>
                <a:cs typeface="Calibri"/>
              </a:rPr>
              <a:t>完整程式碼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EB61B8-28C3-2958-340D-353F21B5589B}"/>
              </a:ext>
            </a:extLst>
          </p:cNvPr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D121B0-2AB7-E328-6CFC-12CE293A0A0F}"/>
              </a:ext>
            </a:extLst>
          </p:cNvPr>
          <p:cNvSpPr/>
          <p:nvPr/>
        </p:nvSpPr>
        <p:spPr>
          <a:xfrm>
            <a:off x="502920" y="1115568"/>
            <a:ext cx="81381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圖片 9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B02EC3DD-A414-85D8-1AFA-6FE50E50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54" y="1160145"/>
            <a:ext cx="4121447" cy="3983355"/>
          </a:xfrm>
          <a:prstGeom prst="rect">
            <a:avLst/>
          </a:prstGeom>
        </p:spPr>
      </p:pic>
      <p:pic>
        <p:nvPicPr>
          <p:cNvPr id="11" name="圖片 10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CD98464A-CBA7-B103-2907-B256B36A4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11" y="1165860"/>
            <a:ext cx="3962494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97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4A5C"/>
                </a:solidFill>
                <a:latin typeface="Georgia"/>
              </a:rPr>
              <a:t>程式運作流程圖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822960"/>
            <a:ext cx="1828800" cy="59436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30752" y="877824"/>
            <a:ext cx="168249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程式啟動
srand() 亂數初始化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53712" y="1417319"/>
            <a:ext cx="36576" cy="16459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0" y="1581912"/>
            <a:ext cx="1828800" cy="59436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636776"/>
            <a:ext cx="168249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顯示難度選單
讀取歷史紀錄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2176272"/>
            <a:ext cx="36576" cy="16459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2340864"/>
            <a:ext cx="1828800" cy="59436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2395728"/>
            <a:ext cx="168249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WordBank 載入題庫
隨機抽題 &amp; 挖空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2935224"/>
            <a:ext cx="36576" cy="16459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3099816"/>
            <a:ext cx="1828800" cy="594360"/>
          </a:xfrm>
          <a:prstGeom prst="rect">
            <a:avLst/>
          </a:prstGeom>
          <a:solidFill>
            <a:srgbClr val="E4EBF3"/>
          </a:solidFill>
          <a:ln w="19050">
            <a:solidFill>
              <a:srgbClr val="5A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3154680"/>
            <a:ext cx="168249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GameManager::startGame()
玩家輸入 → 逐字比對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19" y="3712464"/>
            <a:ext cx="1645920" cy="5029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4559" y="37673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8A60"/>
                </a:solidFill>
                <a:latin typeface="Calibri"/>
              </a:rPr>
              <a:t>獲勝
連勝 +1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712464"/>
            <a:ext cx="1645920" cy="502920"/>
          </a:xfrm>
          <a:prstGeom prst="rect">
            <a:avLst/>
          </a:prstGeom>
          <a:solidFill>
            <a:srgbClr val="EDE8E0"/>
          </a:solidFill>
          <a:ln w="12700">
            <a:solidFill>
              <a:srgbClr val="D8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0" y="37673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 err="1">
                <a:solidFill>
                  <a:srgbClr val="B05040"/>
                </a:solidFill>
                <a:latin typeface="Calibri"/>
              </a:rPr>
              <a:t>失敗</a:t>
            </a:r>
            <a:r>
              <a:rPr sz="950" b="0" i="0" dirty="0">
                <a:solidFill>
                  <a:srgbClr val="B05040"/>
                </a:solidFill>
                <a:latin typeface="Calibri"/>
              </a:rPr>
              <a:t>
</a:t>
            </a:r>
            <a:r>
              <a:rPr sz="950" b="0" i="0" dirty="0" err="1">
                <a:solidFill>
                  <a:srgbClr val="B05040"/>
                </a:solidFill>
                <a:latin typeface="Calibri"/>
              </a:rPr>
              <a:t>連勝歸零</a:t>
            </a:r>
            <a:endParaRPr sz="950" b="0" i="0" dirty="0">
              <a:solidFill>
                <a:srgbClr val="B0504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49039" y="4050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勝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07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899AA"/>
                </a:solidFill>
                <a:latin typeface="Calibri"/>
              </a:rPr>
              <a:t>← 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617720"/>
            <a:ext cx="2560320" cy="457200"/>
          </a:xfrm>
          <a:prstGeom prst="rect">
            <a:avLst/>
          </a:prstGeom>
          <a:solidFill>
            <a:srgbClr val="EDE8E0"/>
          </a:solidFill>
          <a:ln w="19050">
            <a:solidFill>
              <a:srgbClr val="5A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91840" y="4434840"/>
            <a:ext cx="2560320" cy="384048"/>
          </a:xfrm>
          <a:prstGeom prst="rect">
            <a:avLst/>
          </a:prstGeom>
          <a:solidFill>
            <a:srgbClr val="EDE8E0"/>
          </a:solidFill>
          <a:ln w="19050">
            <a:solidFill>
              <a:srgbClr val="5A7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44531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ScoreBoard 存檔 → 繼續 / 結束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5540944-F7EA-C566-68A5-E3DA550F1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26" y="0"/>
            <a:ext cx="67897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36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3A4A5C"/>
                </a:solidFill>
                <a:latin typeface="Georgia"/>
              </a:rPr>
              <a:t>GitHub </a:t>
            </a:r>
            <a:r>
              <a:rPr sz="2200" b="1" i="0" dirty="0" err="1">
                <a:solidFill>
                  <a:srgbClr val="3A4A5C"/>
                </a:solidFill>
                <a:latin typeface="Georgia"/>
              </a:rPr>
              <a:t>連結</a:t>
            </a:r>
            <a:endParaRPr sz="2200" b="1" i="0" dirty="0">
              <a:solidFill>
                <a:srgbClr val="3A4A5C"/>
              </a:solidFill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8321040" cy="18288"/>
          </a:xfrm>
          <a:prstGeom prst="rect">
            <a:avLst/>
          </a:prstGeom>
          <a:solidFill>
            <a:srgbClr val="D8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2621279"/>
            <a:ext cx="6035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4A5C"/>
                </a:solidFill>
                <a:latin typeface="Calibri"/>
              </a:rPr>
              <a:t>  https://github.com/liminxian569-bot/sam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2184</Words>
  <Application>Microsoft Office PowerPoint</Application>
  <PresentationFormat>如螢幕大小 (16:9)</PresentationFormat>
  <Paragraphs>377</Paragraphs>
  <Slides>30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9" baseType="lpstr">
      <vt:lpstr>Tomorrow</vt:lpstr>
      <vt:lpstr>Tomorrow Bold</vt:lpstr>
      <vt:lpstr>新細明體</vt:lpstr>
      <vt:lpstr>Aptos</vt:lpstr>
      <vt:lpstr>Arial</vt:lpstr>
      <vt:lpstr>Calibri</vt:lpstr>
      <vt:lpstr>Consolas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旻憲 李</cp:lastModifiedBy>
  <cp:revision>7</cp:revision>
  <dcterms:created xsi:type="dcterms:W3CDTF">2026-05-29T07:54:51Z</dcterms:created>
  <dcterms:modified xsi:type="dcterms:W3CDTF">2026-06-07T13:27:25Z</dcterms:modified>
</cp:coreProperties>
</file>